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사건 개요</a:t>
            </a:r>
          </a:p>
        </p:txBody>
      </p:sp>
      <p:sp>
        <p:nvSpPr>
          <p:cNvPr id="6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고온 경고 → 보호정지 → 분진 확인의 3단계 사건 흐름</a:t>
            </a:r>
          </a:p>
        </p:txBody>
      </p:sp>
      <p:sp>
        <p:nvSpPr>
          <p:cNvPr id="8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9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타임라인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14:02 고온 경고 발생 후 9분 만에 보호정지, 17분 후 분진 발견</a:t>
            </a:r>
          </a:p>
        </p:txBody>
      </p:sp>
      <p:sp>
        <p:nvSpPr>
          <p:cNvPr id="9" name="BENCH_TIMELINE"/>
          <p:cNvSpPr/>
          <p:nvPr/>
        </p:nvSpPr>
        <p:spPr>
          <a:xfrm>
            <a:off x="713232" y="3701125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TIMELINE"/>
          <p:cNvSpPr/>
          <p:nvPr/>
        </p:nvSpPr>
        <p:spPr>
          <a:xfrm>
            <a:off x="1590507" y="3627973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TIMELINE_TIME"/>
          <p:cNvSpPr txBox="1"/>
          <p:nvPr/>
        </p:nvSpPr>
        <p:spPr>
          <a:xfrm>
            <a:off x="884407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2" name="BENCH_TIMELINE_TEXT"/>
          <p:cNvSpPr txBox="1"/>
          <p:nvPr/>
        </p:nvSpPr>
        <p:spPr>
          <a:xfrm>
            <a:off x="884407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14:02 고온 경고</a:t>
            </a:r>
          </a:p>
        </p:txBody>
      </p:sp>
      <p:sp>
        <p:nvSpPr>
          <p:cNvPr id="13" name="BENCH_TIMELINE"/>
          <p:cNvSpPr/>
          <p:nvPr/>
        </p:nvSpPr>
        <p:spPr>
          <a:xfrm>
            <a:off x="3730203" y="3627973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TIMELINE_TIME"/>
          <p:cNvSpPr txBox="1"/>
          <p:nvPr/>
        </p:nvSpPr>
        <p:spPr>
          <a:xfrm>
            <a:off x="3024103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5" name="BENCH_TIMELINE_TEXT"/>
          <p:cNvSpPr txBox="1"/>
          <p:nvPr/>
        </p:nvSpPr>
        <p:spPr>
          <a:xfrm>
            <a:off x="3024103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14:04 91.1°C 기록</a:t>
            </a:r>
          </a:p>
        </p:txBody>
      </p:sp>
      <p:sp>
        <p:nvSpPr>
          <p:cNvPr id="16" name="BENCH_TIMELINE"/>
          <p:cNvSpPr/>
          <p:nvPr/>
        </p:nvSpPr>
        <p:spPr>
          <a:xfrm>
            <a:off x="5869899" y="3627973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TIMELINE_TIME"/>
          <p:cNvSpPr txBox="1"/>
          <p:nvPr/>
        </p:nvSpPr>
        <p:spPr>
          <a:xfrm>
            <a:off x="5163799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8" name="BENCH_TIMELINE_TEXT"/>
          <p:cNvSpPr txBox="1"/>
          <p:nvPr/>
        </p:nvSpPr>
        <p:spPr>
          <a:xfrm>
            <a:off x="5163799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14:07 보호정지</a:t>
            </a:r>
          </a:p>
        </p:txBody>
      </p:sp>
      <p:sp>
        <p:nvSpPr>
          <p:cNvPr id="19" name="BENCH_TIMELINE"/>
          <p:cNvSpPr/>
          <p:nvPr/>
        </p:nvSpPr>
        <p:spPr>
          <a:xfrm>
            <a:off x="8009595" y="3627973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TIMELINE_TIME"/>
          <p:cNvSpPr txBox="1"/>
          <p:nvPr/>
        </p:nvSpPr>
        <p:spPr>
          <a:xfrm>
            <a:off x="7303495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21" name="BENCH_TIMELINE_TEXT"/>
          <p:cNvSpPr txBox="1"/>
          <p:nvPr/>
        </p:nvSpPr>
        <p:spPr>
          <a:xfrm>
            <a:off x="7303495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14:16 흡입구 분진 확인</a:t>
            </a:r>
          </a:p>
        </p:txBody>
      </p:sp>
      <p:sp>
        <p:nvSpPr>
          <p:cNvPr id="22" name="BENCH_TIMELINE"/>
          <p:cNvSpPr/>
          <p:nvPr/>
        </p:nvSpPr>
        <p:spPr>
          <a:xfrm>
            <a:off x="10149291" y="3627973"/>
            <a:ext cx="164592" cy="16459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ENCH_TIMELINE_TIME"/>
          <p:cNvSpPr txBox="1"/>
          <p:nvPr/>
        </p:nvSpPr>
        <p:spPr>
          <a:xfrm>
            <a:off x="9443191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24" name="BENCH_TIMELINE_TEXT"/>
          <p:cNvSpPr txBox="1"/>
          <p:nvPr/>
        </p:nvSpPr>
        <p:spPr>
          <a:xfrm>
            <a:off x="9443191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14:31 재가동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보호정지 전 91.1°C 기록이 직접적 트리거로 판단됨</a:t>
            </a:r>
          </a:p>
        </p:txBody>
      </p:sp>
      <p:sp>
        <p:nvSpPr>
          <p:cNvPr id="9" name="BENCH_HERO_CARD"/>
          <p:cNvSpPr/>
          <p:nvPr/>
        </p:nvSpPr>
        <p:spPr>
          <a:xfrm>
            <a:off x="658368" y="1700784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HERO_LABEL"/>
          <p:cNvSpPr txBox="1"/>
          <p:nvPr/>
        </p:nvSpPr>
        <p:spPr>
          <a:xfrm>
            <a:off x="969264" y="1956815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직접 트리거</a:t>
            </a:r>
          </a:p>
        </p:txBody>
      </p:sp>
      <p:sp>
        <p:nvSpPr>
          <p:cNvPr id="11" name="BENCH_HERO_VALUE"/>
          <p:cNvSpPr txBox="1"/>
          <p:nvPr/>
        </p:nvSpPr>
        <p:spPr>
          <a:xfrm>
            <a:off x="969264" y="2414015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91.1°C</a:t>
            </a:r>
          </a:p>
        </p:txBody>
      </p:sp>
      <p:sp>
        <p:nvSpPr>
          <p:cNvPr id="12" name="BENCH_HERO_DETAIL"/>
          <p:cNvSpPr txBox="1"/>
          <p:nvPr/>
        </p:nvSpPr>
        <p:spPr>
          <a:xfrm>
            <a:off x="969264" y="3145536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보호정지 전 91.1°C 기록이 직접적 트리거로 판단됨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4590288" y="1744675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459028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4791455" y="1890979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14:04 온도 상승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4590288" y="3061411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459028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4791455" y="3207715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14:07 보호 정지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4590288" y="4378147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459028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4791455" y="4524451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분진 발견 시점과 시간차 존재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근본원인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분진은 결과적 원인, 진동 데이터 누락으로 근본 원인 확정 불가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74467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89097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현재 자료로는 분진이 직접적 원인 아님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061411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07715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진동 센서 데이터 수집 미비</a:t>
            </a:r>
          </a:p>
        </p:txBody>
      </p:sp>
      <p:sp>
        <p:nvSpPr>
          <p:cNvPr id="15" name="BENCH_INSIGHT_CARD"/>
          <p:cNvSpPr/>
          <p:nvPr/>
        </p:nvSpPr>
        <p:spPr>
          <a:xfrm>
            <a:off x="658368" y="4378147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5836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BODY"/>
          <p:cNvSpPr txBox="1"/>
          <p:nvPr/>
        </p:nvSpPr>
        <p:spPr>
          <a:xfrm>
            <a:off x="859536" y="4524451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과열 원인 재검증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 계획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3가지 조치 항목 완료 시점 명시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흡입구 청소주기 4주 준수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설비팀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진동센서 수집 누락 복구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자동화팀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과열 RCA 재검증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품질팀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 및 조치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 제거 완료 후 재가동, 추가 분석 필요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진동 데이터 보완 → RCA 재검토 → 예방 조치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