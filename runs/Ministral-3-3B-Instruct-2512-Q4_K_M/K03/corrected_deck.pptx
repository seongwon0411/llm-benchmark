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상태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Sheet1!$A$2:$A$2</c:f>
              <c:strCache>
                <c:ptCount val="1"/>
                <c:pt idx="0">
                  <c:v>ROI 산정 중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AI 검사 확대 도입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파일럿 결과 및 계획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2026년 전체 공장 불량률 3.1% 달성 계획 중</a:t>
            </a:r>
          </a:p>
        </p:txBody>
      </p:sp>
      <p:sp>
        <p:nvSpPr>
          <p:cNvPr id="10" name="BENCH_HERO_CARD"/>
          <p:cNvSpPr/>
          <p:nvPr/>
        </p:nvSpPr>
        <p:spPr>
          <a:xfrm>
            <a:off x="658368" y="1773936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HERO_LABEL"/>
          <p:cNvSpPr txBox="1"/>
          <p:nvPr/>
        </p:nvSpPr>
        <p:spPr>
          <a:xfrm>
            <a:off x="969264" y="2029967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AI 검사 확대 도입</a:t>
            </a:r>
          </a:p>
        </p:txBody>
      </p:sp>
      <p:sp>
        <p:nvSpPr>
          <p:cNvPr id="12" name="BENCH_HERO_VALUE"/>
          <p:cNvSpPr txBox="1"/>
          <p:nvPr/>
        </p:nvSpPr>
        <p:spPr>
          <a:xfrm>
            <a:off x="969264" y="2487168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2026년</a:t>
            </a:r>
          </a:p>
        </p:txBody>
      </p:sp>
      <p:sp>
        <p:nvSpPr>
          <p:cNvPr id="13" name="BENCH_HERO_DETAIL"/>
          <p:cNvSpPr txBox="1"/>
          <p:nvPr/>
        </p:nvSpPr>
        <p:spPr>
          <a:xfrm>
            <a:off x="969264" y="3218688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2026년 전체 공장 불량률 3.1% 달성 계획 중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4590288" y="1971446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4590288" y="1971446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4791455" y="2117750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파일럿(1개 라인): 3.1% → 확장 전 검증 완료 예정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투자효과 (ROI)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ROI 산정 중; 연간 절감액 추정치 미확정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ROI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산정 중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(2026년 1차 결과待機)</a:t>
            </a:r>
          </a:p>
        </p:txBody>
      </p:sp>
      <p:sp>
        <p:nvSpPr>
          <p:cNvPr id="14" name="BENCH_KPI_CARD"/>
          <p:cNvSpPr/>
          <p:nvPr/>
        </p:nvSpPr>
        <p:spPr>
          <a:xfrm>
            <a:off x="6172200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172200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KPI_LABEL"/>
          <p:cNvSpPr txBox="1"/>
          <p:nvPr/>
        </p:nvSpPr>
        <p:spPr>
          <a:xfrm>
            <a:off x="6373368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검증 완료 전 확대는 피할 것</a:t>
            </a:r>
          </a:p>
        </p:txBody>
      </p:sp>
      <p:sp>
        <p:nvSpPr>
          <p:cNvPr id="17" name="BENCH_KPI_VALUE"/>
          <p:cNvSpPr txBox="1"/>
          <p:nvPr/>
        </p:nvSpPr>
        <p:spPr>
          <a:xfrm>
            <a:off x="6373368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18" name="BENCH_CHART"/>
          <p:cNvGraphicFramePr>
            <a:graphicFrameLocks noGrp="1"/>
          </p:cNvGraphicFramePr>
          <p:nvPr/>
        </p:nvGraphicFramePr>
        <p:xfrm>
          <a:off x="713232" y="2999232"/>
          <a:ext cx="10771632" cy="32369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추진안 (AI 검사 확대)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2개 추가 라인 검증 후 8개 라인 확장 계획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확대 라인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2개 추가 검증 중 → 총 8개</a:t>
            </a:r>
          </a:p>
        </p:txBody>
      </p:sp>
      <p:sp>
        <p:nvSpPr>
          <p:cNvPr id="13" name="BENCH_KPI_CARD"/>
          <p:cNvSpPr/>
          <p:nvPr/>
        </p:nvSpPr>
        <p:spPr>
          <a:xfrm>
            <a:off x="6172200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172200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KPI_LABEL"/>
          <p:cNvSpPr txBox="1"/>
          <p:nvPr/>
        </p:nvSpPr>
        <p:spPr>
          <a:xfrm>
            <a:off x="6373368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검사시간 단축</a:t>
            </a:r>
          </a:p>
        </p:txBody>
      </p:sp>
      <p:sp>
        <p:nvSpPr>
          <p:cNvPr id="16" name="BENCH_KPI_VALUE"/>
          <p:cNvSpPr txBox="1"/>
          <p:nvPr/>
        </p:nvSpPr>
        <p:spPr>
          <a:xfrm>
            <a:off x="6373368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14% (파일럿 결과)</a:t>
            </a:r>
          </a:p>
        </p:txBody>
      </p:sp>
      <p:graphicFrame>
        <p:nvGraphicFramePr>
          <p:cNvPr id="17" name="BENCH_TABLE"/>
          <p:cNvGraphicFramePr>
            <a:graphicFrameLocks noGrp="1"/>
          </p:cNvGraphicFramePr>
          <p:nvPr/>
        </p:nvGraphicFramePr>
        <p:xfrm>
          <a:off x="658368" y="2999232"/>
          <a:ext cx="10863072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1312164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2026년 전체 공장 불량률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3.1% (파일럿 라인 기준) → 확장 전 검증 완료 예정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312164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검사시간 단축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14% (8주 파일럿 결과)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⚠️ 검증 완료 전 즉시 확대는 피할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결과 및 계획 확인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2026년 전체 공장 불량률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3.1% (파일럿 라인 기준) → 확장 전 검증 완료 예정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검사시간 단축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14% (8주 파일럿 결과)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ROI/절감액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산정 중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