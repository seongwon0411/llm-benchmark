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이벤트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dPt>
            <c:idx val="0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1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2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3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14:02 (고온 경고)</c:v>
                </c:pt>
                <c:pt idx="1">
                  <c:v>14:07 (보호정지)</c:v>
                </c:pt>
                <c:pt idx="2">
                  <c:v>14:16 (분진 확인)</c:v>
                </c:pt>
                <c:pt idx="3">
                  <c:v>14:31 (재가동)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DECOR"/>
          <p:cNvSpPr/>
          <p:nvPr/>
        </p:nvSpPr>
        <p:spPr>
          <a:xfrm>
            <a:off x="731520" y="1298448"/>
            <a:ext cx="91440" cy="25146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ENCH_TITLE"/>
          <p:cNvSpPr txBox="1"/>
          <p:nvPr/>
        </p:nvSpPr>
        <p:spPr>
          <a:xfrm>
            <a:off x="1115568" y="1481328"/>
            <a:ext cx="9784080" cy="10241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100" b="1">
                <a:solidFill>
                  <a:srgbClr val="FFFFFF"/>
                </a:solidFill>
                <a:latin typeface="Malgun Gothic"/>
              </a:rPr>
              <a:t>공장 사고 리뷰</a:t>
            </a:r>
          </a:p>
        </p:txBody>
      </p:sp>
      <p:sp>
        <p:nvSpPr>
          <p:cNvPr id="6" name="BENCH_SUBTITLE"/>
          <p:cNvSpPr txBox="1"/>
          <p:nvPr/>
        </p:nvSpPr>
        <p:spPr>
          <a:xfrm>
            <a:off x="1143000" y="2724912"/>
            <a:ext cx="9326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D6E0EA"/>
                </a:solidFill>
                <a:latin typeface="Malgun Gothic"/>
              </a:rPr>
              <a:t>타임라인, 근본원인 분석 및 조치 계획</a:t>
            </a:r>
          </a:p>
        </p:txBody>
      </p:sp>
      <p:sp>
        <p:nvSpPr>
          <p:cNvPr id="7" name="BENCH_COVER_TAG"/>
          <p:cNvSpPr txBox="1"/>
          <p:nvPr/>
        </p:nvSpPr>
        <p:spPr>
          <a:xfrm>
            <a:off x="1143000" y="59893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7FA6FF"/>
                </a:solidFill>
                <a:latin typeface="Malgun Gothic"/>
              </a:rPr>
              <a:t>DECISION BRIEF</a:t>
            </a:r>
          </a:p>
        </p:txBody>
      </p:sp>
      <p:sp>
        <p:nvSpPr>
          <p:cNvPr id="8" name="BENCH_PAGE"/>
          <p:cNvSpPr txBox="1"/>
          <p:nvPr/>
        </p:nvSpPr>
        <p:spPr>
          <a:xfrm>
            <a:off x="11228832" y="6473952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7C6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사고 타임라인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사고 발생부터 재가동까지의 주요 이벤트와 원인/조치를 시각화합니다.</a:t>
            </a:r>
          </a:p>
        </p:txBody>
      </p:sp>
      <p:graphicFrame>
        <p:nvGraphicFramePr>
          <p:cNvPr id="9" name="BENCH_CHART"/>
          <p:cNvGraphicFramePr>
            <a:graphicFrameLocks noGrp="1"/>
          </p:cNvGraphicFramePr>
          <p:nvPr/>
        </p:nvGraphicFramePr>
        <p:xfrm>
          <a:off x="713232" y="1700784"/>
          <a:ext cx="10771632" cy="45354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직접 트리거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고온 경고와 보호정지가 분진 발생의 직접적 원인이며, 재가동 후에도 분진이 확인되었습니다.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분진이 발생한 직접적 트리거</a:t>
            </a:r>
          </a:p>
        </p:txBody>
      </p:sp>
      <p:sp>
        <p:nvSpPr>
          <p:cNvPr id="13" name="BENCH_INSIGHT_CARD"/>
          <p:cNvSpPr/>
          <p:nvPr/>
        </p:nvSpPr>
        <p:spPr>
          <a:xfrm>
            <a:off x="658368" y="1865924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658368" y="1865924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BODY"/>
          <p:cNvSpPr txBox="1"/>
          <p:nvPr/>
        </p:nvSpPr>
        <p:spPr>
          <a:xfrm>
            <a:off x="859536" y="2012228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14:02 - 고온 경고 → 보호정지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근본원인의 불확실성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분진과 관련 있지만 진동 데이터 누락으로 근본원인을 과도하게 단정하지 않습니다. 추가 분석 필요.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진동센서 수집 누락 → 추가 조치 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조치 계획 (Action)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각 조치의 책임자,Due를 확인합니다.</a:t>
            </a:r>
          </a:p>
        </p:txBody>
      </p:sp>
      <p:graphicFrame>
        <p:nvGraphicFramePr>
          <p:cNvPr id="9" name="BENCH_TABLE"/>
          <p:cNvGraphicFramePr>
            <a:graphicFrameLocks noGrp="1"/>
          </p:cNvGraphicFramePr>
          <p:nvPr/>
        </p:nvGraphicFramePr>
        <p:xfrm>
          <a:off x="658368" y="1700784"/>
          <a:ext cx="10863072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1536"/>
                <a:gridCol w="2715768"/>
                <a:gridCol w="2715768"/>
              </a:tblGrid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흡입구 청소주기 4주 준수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설비팀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즉시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진동센서 수집 누락 복구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자동화팀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2주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1511808">
                <a:tc>
                  <a:txBody>
                    <a:bodyPr anchor="ctr"/>
                    <a:lstStyle/>
                    <a:p>
                      <a:pPr algn="l"/>
                      <a:r>
                        <a:rPr sz="1200" b="1">
                          <a:solidFill>
                            <a:srgbClr val="172033"/>
                          </a:solidFill>
                          <a:latin typeface="Malgun Gothic"/>
                        </a:rPr>
                        <a:t>과열 RCA 재검증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품질팀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1주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Decision: 조치 계획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조치 계획이 완료되면 진동센서 수집을 재검토할 것. 추가 분석 필요.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조치 완료 후 추가 조치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