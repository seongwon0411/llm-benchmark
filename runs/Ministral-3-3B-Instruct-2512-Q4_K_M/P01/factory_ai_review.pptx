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출력량 (단위: K)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Sheet1!$A$2:$A$3</c:f>
              <c:strCache>
                <c:ptCount val="2"/>
                <c:pt idx="0">
                  <c:v>전체공장</c:v>
                </c:pt>
                <c:pt idx="1">
                  <c:v>파일럿 라인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120.0</c:v>
                </c:pt>
                <c:pt idx="1">
                  <c:v>35.0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결함율 (%)</c:v>
                </c:pt>
              </c:strCache>
            </c:strRef>
          </c:tx>
          <c:spPr>
            <a:solidFill>
              <a:srgbClr val="00A6A6"/>
            </a:solidFill>
            <a:ln>
              <a:solidFill>
                <a:srgbClr val="00A6A6"/>
              </a:solidFill>
            </a:ln>
          </c:spPr>
          <c:cat>
            <c:strRef>
              <c:f>Sheet1!$A$2:$A$3</c:f>
              <c:strCache>
                <c:ptCount val="2"/>
                <c:pt idx="0">
                  <c:v>전체공장</c:v>
                </c:pt>
                <c:pt idx="1">
                  <c:v>파일럿 라인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5.2</c:v>
                </c:pt>
                <c:pt idx="1">
                  <c:v>3.1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OEE(%)</c:v>
                </c:pt>
              </c:strCache>
            </c:strRef>
          </c:tx>
          <c:spPr>
            <a:solidFill>
              <a:srgbClr val="7C5CFC"/>
            </a:solidFill>
            <a:ln>
              <a:solidFill>
                <a:srgbClr val="7C5CFC"/>
              </a:solidFill>
            </a:ln>
          </c:spPr>
          <c:cat>
            <c:strRef>
              <c:f>Sheet1!$A$2:$A$3</c:f>
              <c:strCache>
                <c:ptCount val="2"/>
                <c:pt idx="0">
                  <c:v>전체공장</c:v>
                </c:pt>
                <c:pt idx="1">
                  <c:v>파일럿 라인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71.0</c:v>
                </c:pt>
                <c:pt idx="1">
                  <c:v>81.0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결함율(%)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OEE(%)</c:v>
                </c:pt>
              </c:strCache>
            </c:strRef>
          </c:tx>
          <c:spPr>
            <a:solidFill>
              <a:srgbClr val="00A6A6"/>
            </a:solidFill>
            <a:ln w="28575">
              <a:solidFill>
                <a:srgbClr val="00A6A6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71.0</c:v>
                </c:pt>
                <c:pt idx="1">
                  <c:v>74.0</c:v>
                </c:pt>
                <c:pt idx="2">
                  <c:v>81.0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공장 AI 확대 검토 – 파일럿 결과 및 전략</a:t>
            </a:r>
          </a:p>
        </p:txBody>
      </p:sp>
      <p:sp>
        <p:nvSpPr>
          <p:cNvPr id="6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7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AI 도입 KPI 비교 (2024~2026)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라인의 성적은 전체공장 실적을 초과하며, AI 도입의 가치가 입증된다.</a:t>
            </a:r>
          </a:p>
        </p:txBody>
      </p:sp>
      <p:sp>
        <p:nvSpPr>
          <p:cNvPr id="9" name="BENCH_KPI_CARD"/>
          <p:cNvSpPr/>
          <p:nvPr/>
        </p:nvSpPr>
        <p:spPr>
          <a:xfrm>
            <a:off x="658368" y="1700784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00784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KPI_LABEL"/>
          <p:cNvSpPr txBox="1"/>
          <p:nvPr/>
        </p:nvSpPr>
        <p:spPr>
          <a:xfrm>
            <a:off x="859536" y="1847088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출력량</a:t>
            </a:r>
          </a:p>
        </p:txBody>
      </p:sp>
      <p:sp>
        <p:nvSpPr>
          <p:cNvPr id="12" name="BENCH_KPI_VALUE"/>
          <p:cNvSpPr txBox="1"/>
          <p:nvPr/>
        </p:nvSpPr>
        <p:spPr>
          <a:xfrm>
            <a:off x="859536" y="2093976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120K→35K(↑29%)</a:t>
            </a:r>
          </a:p>
        </p:txBody>
      </p:sp>
      <p:sp>
        <p:nvSpPr>
          <p:cNvPr id="13" name="BENCH_KPI_DETAIL"/>
          <p:cNvSpPr txBox="1"/>
          <p:nvPr/>
        </p:nvSpPr>
        <p:spPr>
          <a:xfrm>
            <a:off x="859536" y="2596896"/>
            <a:ext cx="31821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(전체: 120K→128K)</a:t>
            </a:r>
          </a:p>
        </p:txBody>
      </p:sp>
      <p:sp>
        <p:nvSpPr>
          <p:cNvPr id="14" name="BENCH_KPI_CARD"/>
          <p:cNvSpPr/>
          <p:nvPr/>
        </p:nvSpPr>
        <p:spPr>
          <a:xfrm>
            <a:off x="4334256" y="1700784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4334256" y="1700784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KPI_LABEL"/>
          <p:cNvSpPr txBox="1"/>
          <p:nvPr/>
        </p:nvSpPr>
        <p:spPr>
          <a:xfrm>
            <a:off x="4535424" y="1847088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결함율</a:t>
            </a:r>
          </a:p>
        </p:txBody>
      </p:sp>
      <p:sp>
        <p:nvSpPr>
          <p:cNvPr id="17" name="BENCH_KPI_VALUE"/>
          <p:cNvSpPr txBox="1"/>
          <p:nvPr/>
        </p:nvSpPr>
        <p:spPr>
          <a:xfrm>
            <a:off x="4535424" y="2093976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5.2%→3.1%(↓40%)</a:t>
            </a:r>
          </a:p>
        </p:txBody>
      </p:sp>
      <p:sp>
        <p:nvSpPr>
          <p:cNvPr id="18" name="BENCH_KPI_CARD"/>
          <p:cNvSpPr/>
          <p:nvPr/>
        </p:nvSpPr>
        <p:spPr>
          <a:xfrm>
            <a:off x="8010144" y="1700784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DECOR"/>
          <p:cNvSpPr/>
          <p:nvPr/>
        </p:nvSpPr>
        <p:spPr>
          <a:xfrm>
            <a:off x="8010144" y="1700784"/>
            <a:ext cx="64008" cy="1115568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KPI_LABEL"/>
          <p:cNvSpPr txBox="1"/>
          <p:nvPr/>
        </p:nvSpPr>
        <p:spPr>
          <a:xfrm>
            <a:off x="8211312" y="1847088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OEE</a:t>
            </a:r>
          </a:p>
        </p:txBody>
      </p:sp>
      <p:sp>
        <p:nvSpPr>
          <p:cNvPr id="21" name="BENCH_KPI_VALUE"/>
          <p:cNvSpPr txBox="1"/>
          <p:nvPr/>
        </p:nvSpPr>
        <p:spPr>
          <a:xfrm>
            <a:off x="8211312" y="2093976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71%→81%</a:t>
            </a:r>
          </a:p>
        </p:txBody>
      </p:sp>
      <p:graphicFrame>
        <p:nvGraphicFramePr>
          <p:cNvPr id="22" name="BENCH_CHART"/>
          <p:cNvGraphicFramePr>
            <a:graphicFrameLocks noGrp="1"/>
          </p:cNvGraphicFramePr>
          <p:nvPr/>
        </p:nvGraphicFramePr>
        <p:xfrm>
          <a:off x="713232" y="2999232"/>
          <a:ext cx="10771632" cy="32369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파일럿 라인의 주요 성과 (2026)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라인은 AI 도입으로 결함율 40% 감소와 OEE 향상을 달성했다.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14"/>
                <a:gridCol w="2172614"/>
                <a:gridCol w="2172614"/>
                <a:gridCol w="2172614"/>
                <a:gridCol w="2172616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년도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공장 범위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출력량(K)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결함율(%)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OEE(%)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9B1C1C"/>
                          </a:solidFill>
                          <a:latin typeface="Malgun Gothic"/>
                        </a:rPr>
                        <a:t>2026</a:t>
                      </a:r>
                    </a:p>
                  </a:txBody>
                  <a:tcPr marL="91440" marR="91440" marT="54864" marB="54864">
                    <a:solidFill>
                      <a:srgbClr val="FDECE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파일럿 라인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35.0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3.1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81.0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2026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(파일럿 기준)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↑29%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↓40%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↑10%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파일럿 라인의 연간 성적 변화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AI 도입으로 파일럿 라인은 2025~2026에 결함율과 OEE를 크게 개선했다.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AI 도입 확대 조건 및 리스크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결과가 긍정적임에도 확장에는 추가 검토와 위험 관리 필요.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392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5431536"/>
              </a:tblGrid>
              <a:tr h="1307592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리스크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307592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AI 도입 성공 사례 확인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파일럿 라인의 확장 가능성 검토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307592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9B1C1C"/>
                          </a:solidFill>
                          <a:latin typeface="Malgun Gothic"/>
                        </a:rPr>
                        <a:t>전체공장 리소스 동원 계획</a:t>
                      </a:r>
                    </a:p>
                  </a:txBody>
                  <a:tcPr marL="91440" marR="91440" marT="54864" marB="54864">
                    <a:solidFill>
                      <a:srgbClr val="FDECE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결함율/오류 발생 위험 관리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  <p:sp>
        <p:nvSpPr>
          <p:cNvPr id="10" name="BENCH_CALLOUT_BG"/>
          <p:cNvSpPr/>
          <p:nvPr/>
        </p:nvSpPr>
        <p:spPr>
          <a:xfrm>
            <a:off x="658368" y="5779008"/>
            <a:ext cx="10863072" cy="47548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CALLOUT"/>
          <p:cNvSpPr txBox="1"/>
          <p:nvPr/>
        </p:nvSpPr>
        <p:spPr>
          <a:xfrm>
            <a:off x="868680" y="5879592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⚠️ 파일럿 라인은 전체공장 실적을 초과하지 않음 (2026 Scope: 파일럿 라인 기준)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확대 도입 권고 – 경영진 결의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결과가 긍정적임에도 확장에는 추가 검토와 리스크 관리 필요.</a:t>
            </a:r>
          </a:p>
        </p:txBody>
      </p:sp>
      <p:sp>
        <p:nvSpPr>
          <p:cNvPr id="9" name="BENCH_KPI_CARD"/>
          <p:cNvSpPr/>
          <p:nvPr/>
        </p:nvSpPr>
        <p:spPr>
          <a:xfrm>
            <a:off x="658368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00784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KPI_LABEL"/>
          <p:cNvSpPr txBox="1"/>
          <p:nvPr/>
        </p:nvSpPr>
        <p:spPr>
          <a:xfrm>
            <a:off x="859536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파일럿 라인 확장 가능성</a:t>
            </a:r>
          </a:p>
        </p:txBody>
      </p:sp>
      <p:sp>
        <p:nvSpPr>
          <p:cNvPr id="12" name="BENCH_KPI_VALUE"/>
          <p:cNvSpPr txBox="1"/>
          <p:nvPr/>
        </p:nvSpPr>
        <p:spPr>
          <a:xfrm>
            <a:off x="859536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✅ 검토 중</a:t>
            </a:r>
          </a:p>
        </p:txBody>
      </p:sp>
      <p:sp>
        <p:nvSpPr>
          <p:cNvPr id="13" name="BENCH_KPI_DETAIL"/>
          <p:cNvSpPr txBox="1"/>
          <p:nvPr/>
        </p:nvSpPr>
        <p:spPr>
          <a:xfrm>
            <a:off x="859536" y="2596896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(성적: 35K→128K 대비)</a:t>
            </a:r>
          </a:p>
        </p:txBody>
      </p:sp>
      <p:sp>
        <p:nvSpPr>
          <p:cNvPr id="14" name="BENCH_KPI_CARD"/>
          <p:cNvSpPr/>
          <p:nvPr/>
        </p:nvSpPr>
        <p:spPr>
          <a:xfrm>
            <a:off x="6172200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172200" y="1700784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KPI_LABEL"/>
          <p:cNvSpPr txBox="1"/>
          <p:nvPr/>
        </p:nvSpPr>
        <p:spPr>
          <a:xfrm>
            <a:off x="6373368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리스크 관리 계획</a:t>
            </a:r>
          </a:p>
        </p:txBody>
      </p:sp>
      <p:sp>
        <p:nvSpPr>
          <p:cNvPr id="17" name="BENCH_KPI_VALUE"/>
          <p:cNvSpPr txBox="1"/>
          <p:nvPr/>
        </p:nvSpPr>
        <p:spPr>
          <a:xfrm>
            <a:off x="6373368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⚠️ 필요</a:t>
            </a:r>
          </a:p>
        </p:txBody>
      </p:sp>
      <p:sp>
        <p:nvSpPr>
          <p:cNvPr id="18" name="BENCH_KPI_DETAIL"/>
          <p:cNvSpPr txBox="1"/>
          <p:nvPr/>
        </p:nvSpPr>
        <p:spPr>
          <a:xfrm>
            <a:off x="6373368" y="2596896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(예: 오류 발생 시 대응策)</a:t>
            </a:r>
          </a:p>
        </p:txBody>
      </p:sp>
      <p:sp>
        <p:nvSpPr>
          <p:cNvPr id="19" name="BENCH_DECISION_CARD"/>
          <p:cNvSpPr/>
          <p:nvPr/>
        </p:nvSpPr>
        <p:spPr>
          <a:xfrm>
            <a:off x="7955279" y="2999232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DECISION_ACCENT"/>
          <p:cNvSpPr/>
          <p:nvPr/>
        </p:nvSpPr>
        <p:spPr>
          <a:xfrm>
            <a:off x="7955279" y="2999232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DECISION_LABEL"/>
          <p:cNvSpPr txBox="1"/>
          <p:nvPr/>
        </p:nvSpPr>
        <p:spPr>
          <a:xfrm>
            <a:off x="8229600" y="3182112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22" name="BENCH_DECISION"/>
          <p:cNvSpPr txBox="1"/>
          <p:nvPr/>
        </p:nvSpPr>
        <p:spPr>
          <a:xfrm>
            <a:off x="8229600" y="3520439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✅ AI 도입 확대 시 다음 조건을 충족해야 한다:</a:t>
            </a:r>
            <a:br/>
            <a:r>
              <a:t>1. 파일럿 라인의 성적이 전체공장 실적을 초과하는지 확인.</a:t>
            </a:r>
            <a:br/>
            <a:r>
              <a:t>2. 추가 자원 투입 후 결함율/오류 발생 위험을 제어할 수 있는 계획이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