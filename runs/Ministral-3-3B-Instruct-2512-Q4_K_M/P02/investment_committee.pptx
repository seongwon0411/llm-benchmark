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누적 현금흐름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dPt>
            <c:idx val="0"/>
            <c:spPr>
              <a:solidFill>
                <a:srgbClr val="C43D3D"/>
              </a:solidFill>
              <a:ln>
                <a:solidFill>
                  <a:srgbClr val="C43D3D"/>
                </a:solidFill>
              </a:ln>
            </c:spPr>
          </c:dPt>
          <c:dPt>
            <c:idx val="1"/>
            <c:spPr>
              <a:solidFill>
                <a:srgbClr val="C43D3D"/>
              </a:solidFill>
              <a:ln>
                <a:solidFill>
                  <a:srgbClr val="C43D3D"/>
                </a:solidFill>
              </a:ln>
            </c:spPr>
          </c:dPt>
          <c:dPt>
            <c:idx val="2"/>
            <c:spPr>
              <a:solidFill>
                <a:srgbClr val="C43D3D"/>
              </a:solidFill>
              <a:ln>
                <a:solidFill>
                  <a:srgbClr val="C43D3D"/>
                </a:solidFill>
              </a:ln>
            </c:spPr>
          </c:dPt>
          <c:dPt>
            <c:idx val="3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4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-420.0</c:v>
                </c:pt>
                <c:pt idx="1">
                  <c:v>-315.0</c:v>
                </c:pt>
                <c:pt idx="2">
                  <c:v>-190.0</c:v>
                </c:pt>
                <c:pt idx="3">
                  <c:v>55.0</c:v>
                </c:pt>
                <c:pt idx="4">
                  <c:v>200.0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투자 프로젝트 현금흐름 분석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누적 현금흐름 및 회수시점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투자비용을 포함한 누적 현금흐름이 4년 만에 회수된다.</a:t>
            </a:r>
          </a:p>
        </p:txBody>
      </p:sp>
      <p:sp>
        <p:nvSpPr>
          <p:cNvPr id="10" name="BENCH_KPI_CARD"/>
          <p:cNvSpPr/>
          <p:nvPr/>
        </p:nvSpPr>
        <p:spPr>
          <a:xfrm>
            <a:off x="658368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773936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KPI_LABEL"/>
          <p:cNvSpPr txBox="1"/>
          <p:nvPr/>
        </p:nvSpPr>
        <p:spPr>
          <a:xfrm>
            <a:off x="859536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초기 투자 비용</a:t>
            </a:r>
          </a:p>
        </p:txBody>
      </p:sp>
      <p:sp>
        <p:nvSpPr>
          <p:cNvPr id="13" name="BENCH_KPI_VALUE"/>
          <p:cNvSpPr txBox="1"/>
          <p:nvPr/>
        </p:nvSpPr>
        <p:spPr>
          <a:xfrm>
            <a:off x="859536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-420</a:t>
            </a:r>
          </a:p>
        </p:txBody>
      </p:sp>
      <p:sp>
        <p:nvSpPr>
          <p:cNvPr id="14" name="BENCH_KPI_DETAIL"/>
          <p:cNvSpPr txBox="1"/>
          <p:nvPr/>
        </p:nvSpPr>
        <p:spPr>
          <a:xfrm>
            <a:off x="859536" y="267004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백만 원</a:t>
            </a:r>
          </a:p>
        </p:txBody>
      </p:sp>
      <p:sp>
        <p:nvSpPr>
          <p:cNvPr id="15" name="BENCH_KPI_CARD"/>
          <p:cNvSpPr/>
          <p:nvPr/>
        </p:nvSpPr>
        <p:spPr>
          <a:xfrm>
            <a:off x="6172200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6172200" y="1773936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KPI_LABEL"/>
          <p:cNvSpPr txBox="1"/>
          <p:nvPr/>
        </p:nvSpPr>
        <p:spPr>
          <a:xfrm>
            <a:off x="6373368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회수시점</a:t>
            </a:r>
          </a:p>
        </p:txBody>
      </p:sp>
      <p:sp>
        <p:nvSpPr>
          <p:cNvPr id="18" name="BENCH_KPI_VALUE"/>
          <p:cNvSpPr txBox="1"/>
          <p:nvPr/>
        </p:nvSpPr>
        <p:spPr>
          <a:xfrm>
            <a:off x="6373368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Year 3 (누적 +55)</a:t>
            </a:r>
          </a:p>
        </p:txBody>
      </p:sp>
      <p:sp>
        <p:nvSpPr>
          <p:cNvPr id="19" name="BENCH_KPI_DETAIL"/>
          <p:cNvSpPr txBox="1"/>
          <p:nvPr/>
        </p:nvSpPr>
        <p:spPr>
          <a:xfrm>
            <a:off x="6373368" y="267004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(4년 후)</a:t>
            </a:r>
          </a:p>
        </p:txBody>
      </p:sp>
      <p:graphicFrame>
        <p:nvGraphicFramePr>
          <p:cNvPr id="20" name="BENCH_CHART"/>
          <p:cNvGraphicFramePr>
            <a:graphicFrameLocks noGrp="1"/>
          </p:cNvGraphicFramePr>
          <p:nvPr/>
        </p:nvGraphicFramePr>
        <p:xfrm>
          <a:off x="713232" y="3072384"/>
          <a:ext cx="10771632" cy="3163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투자 리스크 분석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3개 주요 리스크 및 완화책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중요한 리스크를 관리하고 완화책을 통해 위험을 최소화할 수 있다.</a:t>
            </a:r>
          </a:p>
        </p:txBody>
      </p:sp>
      <p:graphicFrame>
        <p:nvGraphicFramePr>
          <p:cNvPr id="10" name="BENCH_TABLE"/>
          <p:cNvGraphicFramePr>
            <a:graphicFrameLocks noGrp="1"/>
          </p:cNvGraphicFramePr>
          <p:nvPr/>
        </p:nvGraphicFramePr>
        <p:xfrm>
          <a:off x="658368" y="1773936"/>
          <a:ext cx="10863071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6183"/>
                <a:gridCol w="1520830"/>
                <a:gridCol w="1520830"/>
                <a:gridCol w="4345228"/>
              </a:tblGrid>
              <a:tr h="1487424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파일럿 일반화 실패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9B1C1C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marL="91440" marR="91440" marT="54864" marB="54864">
                    <a:solidFill>
                      <a:srgbClr val="FDECE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데이터 분석 팀 강화 + 테스트 반복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487424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교육 지연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전문가 컨설팅 추가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487424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센서 추가비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236B48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marL="91440" marR="91440" marT="54864" marB="54864">
                    <a:solidFill>
                      <a:srgbClr val="EAF6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선정비용 절감 계획 수립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투자 권고 및 조건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위원회 결의에 대한 근거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4년 회수기간과 리스크 완화책이 투자 가치가 충분하다.</a:t>
            </a:r>
          </a:p>
        </p:txBody>
      </p:sp>
      <p:sp>
        <p:nvSpPr>
          <p:cNvPr id="10" name="BENCH_KPI_CARD"/>
          <p:cNvSpPr/>
          <p:nvPr/>
        </p:nvSpPr>
        <p:spPr>
          <a:xfrm>
            <a:off x="658368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773936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KPI_LABEL"/>
          <p:cNvSpPr txBox="1"/>
          <p:nvPr/>
        </p:nvSpPr>
        <p:spPr>
          <a:xfrm>
            <a:off x="859536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누적 현금흐름</a:t>
            </a:r>
          </a:p>
        </p:txBody>
      </p:sp>
      <p:sp>
        <p:nvSpPr>
          <p:cNvPr id="13" name="BENCH_KPI_VALUE"/>
          <p:cNvSpPr txBox="1"/>
          <p:nvPr/>
        </p:nvSpPr>
        <p:spPr>
          <a:xfrm>
            <a:off x="859536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+200 (Year 4)</a:t>
            </a:r>
          </a:p>
        </p:txBody>
      </p:sp>
      <p:sp>
        <p:nvSpPr>
          <p:cNvPr id="14" name="BENCH_KPI_DETAIL"/>
          <p:cNvSpPr txBox="1"/>
          <p:nvPr/>
        </p:nvSpPr>
        <p:spPr>
          <a:xfrm>
            <a:off x="859536" y="267004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(회수 확인)</a:t>
            </a:r>
          </a:p>
        </p:txBody>
      </p:sp>
      <p:sp>
        <p:nvSpPr>
          <p:cNvPr id="15" name="BENCH_KPI_CARD"/>
          <p:cNvSpPr/>
          <p:nvPr/>
        </p:nvSpPr>
        <p:spPr>
          <a:xfrm>
            <a:off x="6172200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6172200" y="1773936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KPI_LABEL"/>
          <p:cNvSpPr txBox="1"/>
          <p:nvPr/>
        </p:nvSpPr>
        <p:spPr>
          <a:xfrm>
            <a:off x="6373368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리스크 관리 점수</a:t>
            </a:r>
          </a:p>
        </p:txBody>
      </p:sp>
      <p:sp>
        <p:nvSpPr>
          <p:cNvPr id="18" name="BENCH_KPI_VALUE"/>
          <p:cNvSpPr txBox="1"/>
          <p:nvPr/>
        </p:nvSpPr>
        <p:spPr>
          <a:xfrm>
            <a:off x="6373368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중간</a:t>
            </a:r>
          </a:p>
        </p:txBody>
      </p:sp>
      <p:sp>
        <p:nvSpPr>
          <p:cNvPr id="19" name="BENCH_KPI_DETAIL"/>
          <p:cNvSpPr txBox="1"/>
          <p:nvPr/>
        </p:nvSpPr>
        <p:spPr>
          <a:xfrm>
            <a:off x="6373368" y="267004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(완화책 적용 후)</a:t>
            </a:r>
          </a:p>
        </p:txBody>
      </p:sp>
      <p:sp>
        <p:nvSpPr>
          <p:cNvPr id="20" name="BENCH_DECISION_CARD"/>
          <p:cNvSpPr/>
          <p:nvPr/>
        </p:nvSpPr>
        <p:spPr>
          <a:xfrm>
            <a:off x="7955279" y="30723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DECISION_ACCENT"/>
          <p:cNvSpPr/>
          <p:nvPr/>
        </p:nvSpPr>
        <p:spPr>
          <a:xfrm>
            <a:off x="7955279" y="30723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ENCH_DECISION_LABEL"/>
          <p:cNvSpPr txBox="1"/>
          <p:nvPr/>
        </p:nvSpPr>
        <p:spPr>
          <a:xfrm>
            <a:off x="8229600" y="32552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23" name="BENCH_DECISION"/>
          <p:cNvSpPr txBox="1"/>
          <p:nvPr/>
        </p:nvSpPr>
        <p:spPr>
          <a:xfrm>
            <a:off x="8229600" y="35935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조건: 리스크 완화 계획 준수 + 추가 자금 10% 예비비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Slide 4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