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MTBF/MTTR Analysis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1</a:t>
            </a:r>
          </a:p>
        </p:txBody>
      </p:sp>
      <p:sp>
        <p:nvSpPr>
          <p:cNvPr id="7" name="BENCH_KPI_CARD"/>
          <p:cNvSpPr/>
          <p:nvPr/>
        </p:nvSpPr>
        <p:spPr>
          <a:xfrm>
            <a:off x="658368" y="1042415"/>
            <a:ext cx="351129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DECOR"/>
          <p:cNvSpPr/>
          <p:nvPr/>
        </p:nvSpPr>
        <p:spPr>
          <a:xfrm>
            <a:off x="658368" y="1042415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KPI_LABEL"/>
          <p:cNvSpPr txBox="1"/>
          <p:nvPr/>
        </p:nvSpPr>
        <p:spPr>
          <a:xfrm>
            <a:off x="859536" y="1188719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Line A MTBF</a:t>
            </a:r>
          </a:p>
        </p:txBody>
      </p:sp>
      <p:sp>
        <p:nvSpPr>
          <p:cNvPr id="10" name="BENCH_KPI_VALUE"/>
          <p:cNvSpPr txBox="1"/>
          <p:nvPr/>
        </p:nvSpPr>
        <p:spPr>
          <a:xfrm>
            <a:off x="859536" y="1435607"/>
            <a:ext cx="31821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180h</a:t>
            </a:r>
          </a:p>
        </p:txBody>
      </p:sp>
      <p:sp>
        <p:nvSpPr>
          <p:cNvPr id="11" name="BENCH_KPI_CARD"/>
          <p:cNvSpPr/>
          <p:nvPr/>
        </p:nvSpPr>
        <p:spPr>
          <a:xfrm>
            <a:off x="4334256" y="1042415"/>
            <a:ext cx="351129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DECOR"/>
          <p:cNvSpPr/>
          <p:nvPr/>
        </p:nvSpPr>
        <p:spPr>
          <a:xfrm>
            <a:off x="4334256" y="1042415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KPI_LABEL"/>
          <p:cNvSpPr txBox="1"/>
          <p:nvPr/>
        </p:nvSpPr>
        <p:spPr>
          <a:xfrm>
            <a:off x="4535424" y="1188719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Line B MTBF</a:t>
            </a:r>
          </a:p>
        </p:txBody>
      </p:sp>
      <p:sp>
        <p:nvSpPr>
          <p:cNvPr id="14" name="BENCH_KPI_VALUE"/>
          <p:cNvSpPr txBox="1"/>
          <p:nvPr/>
        </p:nvSpPr>
        <p:spPr>
          <a:xfrm>
            <a:off x="4535424" y="1435607"/>
            <a:ext cx="31821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100h</a:t>
            </a:r>
          </a:p>
        </p:txBody>
      </p:sp>
      <p:sp>
        <p:nvSpPr>
          <p:cNvPr id="15" name="BENCH_KPI_CARD"/>
          <p:cNvSpPr/>
          <p:nvPr/>
        </p:nvSpPr>
        <p:spPr>
          <a:xfrm>
            <a:off x="8010144" y="1042415"/>
            <a:ext cx="351129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DECOR"/>
          <p:cNvSpPr/>
          <p:nvPr/>
        </p:nvSpPr>
        <p:spPr>
          <a:xfrm>
            <a:off x="8010144" y="1042415"/>
            <a:ext cx="64008" cy="1115568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KPI_LABEL"/>
          <p:cNvSpPr txBox="1"/>
          <p:nvPr/>
        </p:nvSpPr>
        <p:spPr>
          <a:xfrm>
            <a:off x="8211312" y="1188719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Line C MTBF</a:t>
            </a:r>
          </a:p>
        </p:txBody>
      </p:sp>
      <p:sp>
        <p:nvSpPr>
          <p:cNvPr id="18" name="BENCH_KPI_VALUE"/>
          <p:cNvSpPr txBox="1"/>
          <p:nvPr/>
        </p:nvSpPr>
        <p:spPr>
          <a:xfrm>
            <a:off x="8211312" y="1435607"/>
            <a:ext cx="31821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146h</a:t>
            </a:r>
          </a:p>
        </p:txBody>
      </p:sp>
      <p:graphicFrame>
        <p:nvGraphicFramePr>
          <p:cNvPr id="19" name="BENCH_TABLE"/>
          <p:cNvGraphicFramePr>
            <a:graphicFrameLocks noGrp="1"/>
          </p:cNvGraphicFramePr>
          <p:nvPr/>
        </p:nvGraphicFramePr>
        <p:xfrm>
          <a:off x="658368" y="2340863"/>
          <a:ext cx="10863072" cy="389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5431536"/>
              </a:tblGrid>
              <a:tr h="129844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A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9B1C1C"/>
                          </a:solidFill>
                          <a:latin typeface="Malgun Gothic"/>
                        </a:rPr>
                        <a:t>180h</a:t>
                      </a:r>
                    </a:p>
                  </a:txBody>
                  <a:tcPr marL="91440" marR="91440" marT="54864" marB="54864">
                    <a:solidFill>
                      <a:srgbClr val="FDECEC"/>
                    </a:solidFill>
                  </a:tcPr>
                </a:tc>
              </a:tr>
              <a:tr h="129844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B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236B48"/>
                          </a:solidFill>
                          <a:latin typeface="Malgun Gothic"/>
                        </a:rPr>
                        <a:t>100h</a:t>
                      </a:r>
                    </a:p>
                  </a:txBody>
                  <a:tcPr marL="91440" marR="91440" marT="54864" marB="54864">
                    <a:solidFill>
                      <a:srgbClr val="EAF6EF"/>
                    </a:solidFill>
                  </a:tcPr>
                </a:tc>
              </a:tr>
              <a:tr h="129844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C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146h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