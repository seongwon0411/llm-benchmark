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현금흐름 (억 원)</c:v>
                </c:pt>
              </c:strCache>
            </c:strRef>
          </c:tx>
          <c:spPr>
            <a:solidFill>
              <a:srgbClr val="2F6BFF"/>
            </a:solidFill>
            <a:ln>
              <a:solidFill>
                <a:srgbClr val="2F6BFF"/>
              </a:solidFill>
            </a:ln>
          </c:spPr>
          <c:dPt>
            <c:idx val="0"/>
            <c:spPr>
              <a:solidFill>
                <a:srgbClr val="C43D3D"/>
              </a:solidFill>
              <a:ln>
                <a:solidFill>
                  <a:srgbClr val="C43D3D"/>
                </a:solidFill>
              </a:ln>
            </c:spPr>
          </c:dPt>
          <c:dPt>
            <c:idx val="1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dPt>
            <c:idx val="2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dPt>
            <c:idx val="3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dPt>
            <c:idx val="4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Year 0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-420.0</c:v>
                </c:pt>
                <c:pt idx="1">
                  <c:v>105.0</c:v>
                </c:pt>
                <c:pt idx="2">
                  <c:v>125.0</c:v>
                </c:pt>
                <c:pt idx="3">
                  <c:v>145.0</c:v>
                </c:pt>
                <c:pt idx="4">
                  <c:v>155.0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DECOR"/>
          <p:cNvSpPr/>
          <p:nvPr/>
        </p:nvSpPr>
        <p:spPr>
          <a:xfrm>
            <a:off x="731520" y="1298448"/>
            <a:ext cx="91440" cy="2514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NCH_TITLE"/>
          <p:cNvSpPr txBox="1"/>
          <p:nvPr/>
        </p:nvSpPr>
        <p:spPr>
          <a:xfrm>
            <a:off x="1115568" y="1481328"/>
            <a:ext cx="9784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algun Gothic"/>
              </a:rPr>
              <a:t>투자심의위원회 보고서</a:t>
            </a:r>
          </a:p>
        </p:txBody>
      </p:sp>
      <p:sp>
        <p:nvSpPr>
          <p:cNvPr id="6" name="BENCH_SUBTITLE"/>
          <p:cNvSpPr txBox="1"/>
          <p:nvPr/>
        </p:nvSpPr>
        <p:spPr>
          <a:xfrm>
            <a:off x="1143000" y="2724912"/>
            <a:ext cx="9326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6E0EA"/>
                </a:solidFill>
                <a:latin typeface="Malgun Gothic"/>
              </a:rPr>
              <a:t>2023년 Q4</a:t>
            </a:r>
          </a:p>
        </p:txBody>
      </p:sp>
      <p:sp>
        <p:nvSpPr>
          <p:cNvPr id="7" name="BENCH_COVER_TAKEAWAY_BG"/>
          <p:cNvSpPr/>
          <p:nvPr/>
        </p:nvSpPr>
        <p:spPr>
          <a:xfrm>
            <a:off x="1115568" y="3547872"/>
            <a:ext cx="9464040" cy="960120"/>
          </a:xfrm>
          <a:prstGeom prst="roundRect">
            <a:avLst/>
          </a:prstGeom>
          <a:solidFill>
            <a:srgbClr val="13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1389888" y="3767328"/>
            <a:ext cx="8915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E7EEF7"/>
                </a:solidFill>
                <a:latin typeface="Malgun Gothic"/>
              </a:rPr>
              <a:t>투자 프로젝트의 현금흐름과 리스크를 분석하여 투자 결정을 지원합니다.</a:t>
            </a:r>
          </a:p>
        </p:txBody>
      </p:sp>
      <p:sp>
        <p:nvSpPr>
          <p:cNvPr id="9" name="BENCH_COVER_TAG"/>
          <p:cNvSpPr txBox="1"/>
          <p:nvPr/>
        </p:nvSpPr>
        <p:spPr>
          <a:xfrm>
            <a:off x="1143000" y="59893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7FA6FF"/>
                </a:solidFill>
                <a:latin typeface="Malgun Gothic"/>
              </a:rPr>
              <a:t>DECISION BRIEF</a:t>
            </a:r>
          </a:p>
        </p:txBody>
      </p:sp>
      <p:sp>
        <p:nvSpPr>
          <p:cNvPr id="10" name="BENCH_PAGE"/>
          <p:cNvSpPr txBox="1"/>
          <p:nvPr/>
        </p:nvSpPr>
        <p:spPr>
          <a:xfrm>
            <a:off x="11228832" y="6473952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B7C6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요약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핵심 지표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3년 3개월 후 회수 가능하며, 주요 리스크는 완화 가능한 수준입니다.</a:t>
            </a:r>
          </a:p>
        </p:txBody>
      </p:sp>
      <p:sp>
        <p:nvSpPr>
          <p:cNvPr id="10" name="BENCH_KPI_CARD"/>
          <p:cNvSpPr/>
          <p:nvPr/>
        </p:nvSpPr>
        <p:spPr>
          <a:xfrm>
            <a:off x="658368" y="1773936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OR"/>
          <p:cNvSpPr/>
          <p:nvPr/>
        </p:nvSpPr>
        <p:spPr>
          <a:xfrm>
            <a:off x="658368" y="1773936"/>
            <a:ext cx="64008" cy="11155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KPI_LABEL"/>
          <p:cNvSpPr txBox="1"/>
          <p:nvPr/>
        </p:nvSpPr>
        <p:spPr>
          <a:xfrm>
            <a:off x="859536" y="1920240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회수시점</a:t>
            </a:r>
          </a:p>
        </p:txBody>
      </p:sp>
      <p:sp>
        <p:nvSpPr>
          <p:cNvPr id="13" name="BENCH_KPI_VALUE"/>
          <p:cNvSpPr txBox="1"/>
          <p:nvPr/>
        </p:nvSpPr>
        <p:spPr>
          <a:xfrm>
            <a:off x="859536" y="2167128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3.29년</a:t>
            </a:r>
          </a:p>
        </p:txBody>
      </p:sp>
      <p:sp>
        <p:nvSpPr>
          <p:cNvPr id="14" name="BENCH_KPI_DETAIL"/>
          <p:cNvSpPr txBox="1"/>
          <p:nvPr/>
        </p:nvSpPr>
        <p:spPr>
          <a:xfrm>
            <a:off x="859536" y="2670048"/>
            <a:ext cx="50200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누적 현금흐름 기준</a:t>
            </a:r>
          </a:p>
        </p:txBody>
      </p:sp>
      <p:sp>
        <p:nvSpPr>
          <p:cNvPr id="15" name="BENCH_KPI_CARD"/>
          <p:cNvSpPr/>
          <p:nvPr/>
        </p:nvSpPr>
        <p:spPr>
          <a:xfrm>
            <a:off x="6172200" y="1773936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DECOR"/>
          <p:cNvSpPr/>
          <p:nvPr/>
        </p:nvSpPr>
        <p:spPr>
          <a:xfrm>
            <a:off x="6172200" y="1773936"/>
            <a:ext cx="64008" cy="11155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KPI_LABEL"/>
          <p:cNvSpPr txBox="1"/>
          <p:nvPr/>
        </p:nvSpPr>
        <p:spPr>
          <a:xfrm>
            <a:off x="6373368" y="1920240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총 투자액</a:t>
            </a:r>
          </a:p>
        </p:txBody>
      </p:sp>
      <p:sp>
        <p:nvSpPr>
          <p:cNvPr id="18" name="BENCH_KPI_VALUE"/>
          <p:cNvSpPr txBox="1"/>
          <p:nvPr/>
        </p:nvSpPr>
        <p:spPr>
          <a:xfrm>
            <a:off x="6373368" y="2167128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420억 원</a:t>
            </a:r>
          </a:p>
        </p:txBody>
      </p:sp>
      <p:sp>
        <p:nvSpPr>
          <p:cNvPr id="19" name="BENCH_KPI_DETAIL"/>
          <p:cNvSpPr txBox="1"/>
          <p:nvPr/>
        </p:nvSpPr>
        <p:spPr>
          <a:xfrm>
            <a:off x="6373368" y="2670048"/>
            <a:ext cx="502005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초기 투자</a:t>
            </a:r>
          </a:p>
        </p:txBody>
      </p:sp>
      <p:sp>
        <p:nvSpPr>
          <p:cNvPr id="20" name="BENCH_DECISION_CARD"/>
          <p:cNvSpPr/>
          <p:nvPr/>
        </p:nvSpPr>
        <p:spPr>
          <a:xfrm>
            <a:off x="7955279" y="3072384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ENCH_DECISION_ACCENT"/>
          <p:cNvSpPr/>
          <p:nvPr/>
        </p:nvSpPr>
        <p:spPr>
          <a:xfrm>
            <a:off x="7955279" y="3072384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ENCH_DECISION_LABEL"/>
          <p:cNvSpPr txBox="1"/>
          <p:nvPr/>
        </p:nvSpPr>
        <p:spPr>
          <a:xfrm>
            <a:off x="8229600" y="3255264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23" name="BENCH_DECISION"/>
          <p:cNvSpPr txBox="1"/>
          <p:nvPr/>
        </p:nvSpPr>
        <p:spPr>
          <a:xfrm>
            <a:off x="8229600" y="3593591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3년 3개월 후 회수 가능하며, 주요 리스크는 완화 가능한 수준입니다.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현금흐름 분석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투자 비용이 3년 후 회수 가능함을 보여줍니다.</a:t>
            </a:r>
          </a:p>
        </p:txBody>
      </p:sp>
      <p:graphicFrame>
        <p:nvGraphicFramePr>
          <p:cNvPr id="9" name="BENCH_CHART"/>
          <p:cNvGraphicFramePr>
            <a:graphicFrameLocks noGrp="1"/>
          </p:cNvGraphicFramePr>
          <p:nvPr/>
        </p:nvGraphicFramePr>
        <p:xfrm>
          <a:off x="713232" y="1700784"/>
          <a:ext cx="10771632" cy="45354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회수시점 계산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3년 3개월 후에 투자 회수가 이루어집니다.</a:t>
            </a:r>
          </a:p>
        </p:txBody>
      </p:sp>
      <p:sp>
        <p:nvSpPr>
          <p:cNvPr id="9" name="BENCH_KPI_CARD"/>
          <p:cNvSpPr/>
          <p:nvPr/>
        </p:nvSpPr>
        <p:spPr>
          <a:xfrm>
            <a:off x="658368" y="1700784"/>
            <a:ext cx="1086307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OR"/>
          <p:cNvSpPr/>
          <p:nvPr/>
        </p:nvSpPr>
        <p:spPr>
          <a:xfrm>
            <a:off x="658368" y="1700784"/>
            <a:ext cx="64008" cy="11155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KPI_LABEL"/>
          <p:cNvSpPr txBox="1"/>
          <p:nvPr/>
        </p:nvSpPr>
        <p:spPr>
          <a:xfrm>
            <a:off x="859536" y="1847088"/>
            <a:ext cx="10533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회수시점</a:t>
            </a:r>
          </a:p>
        </p:txBody>
      </p:sp>
      <p:sp>
        <p:nvSpPr>
          <p:cNvPr id="12" name="BENCH_KPI_VALUE"/>
          <p:cNvSpPr txBox="1"/>
          <p:nvPr/>
        </p:nvSpPr>
        <p:spPr>
          <a:xfrm>
            <a:off x="859536" y="2093976"/>
            <a:ext cx="1053388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3.29년</a:t>
            </a:r>
          </a:p>
        </p:txBody>
      </p:sp>
      <p:sp>
        <p:nvSpPr>
          <p:cNvPr id="13" name="BENCH_KPI_DETAIL"/>
          <p:cNvSpPr txBox="1"/>
          <p:nvPr/>
        </p:nvSpPr>
        <p:spPr>
          <a:xfrm>
            <a:off x="859536" y="2596896"/>
            <a:ext cx="1053388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누적 현금흐름 기준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리스크 분석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5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3개의 주요 리스크가 존재하지만, 완화책이 마련되어 있습니다.</a:t>
            </a:r>
          </a:p>
        </p:txBody>
      </p:sp>
      <p:graphicFrame>
        <p:nvGraphicFramePr>
          <p:cNvPr id="9" name="BENCH_TABLE"/>
          <p:cNvGraphicFramePr>
            <a:graphicFrameLocks noGrp="1"/>
          </p:cNvGraphicFramePr>
          <p:nvPr/>
        </p:nvGraphicFramePr>
        <p:xfrm>
          <a:off x="658368" y="1700784"/>
          <a:ext cx="10863072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1536"/>
                <a:gridCol w="2715768"/>
                <a:gridCol w="2715768"/>
              </a:tblGrid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파일럿 일반화 실패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Malgun Gothic"/>
                        </a:rPr>
                        <a:t>높음</a:t>
                      </a:r>
                    </a:p>
                  </a:txBody>
                  <a:tcPr marL="91440" marR="91440" marT="54864" marB="54864">
                    <a:solidFill>
                      <a:srgbClr val="FDECEC"/>
                    </a:solidFill>
                  </a:tcPr>
                </a:tc>
              </a:tr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교육 지연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</a:tr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센서 추가비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236B48"/>
                          </a:solidFill>
                          <a:latin typeface="Malgun Gothic"/>
                        </a:rPr>
                        <a:t>낮음</a:t>
                      </a:r>
                    </a:p>
                  </a:txBody>
                  <a:tcPr marL="91440" marR="91440" marT="54864" marB="54864">
                    <a:solidFill>
                      <a:srgbClr val="EAF6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리스크 완화책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6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각 리스크에 대응하는 구체적인 조치가 마련되었습니다.</a:t>
            </a:r>
          </a:p>
        </p:txBody>
      </p:sp>
      <p:sp>
        <p:nvSpPr>
          <p:cNvPr id="9" name="BENCH_INSIGHT_CARD"/>
          <p:cNvSpPr/>
          <p:nvPr/>
        </p:nvSpPr>
        <p:spPr>
          <a:xfrm>
            <a:off x="658368" y="1744675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OR"/>
          <p:cNvSpPr/>
          <p:nvPr/>
        </p:nvSpPr>
        <p:spPr>
          <a:xfrm>
            <a:off x="658368" y="1744675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BODY"/>
          <p:cNvSpPr txBox="1"/>
          <p:nvPr/>
        </p:nvSpPr>
        <p:spPr>
          <a:xfrm>
            <a:off x="859536" y="1890979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파일럿 일반화 실패: 추가 테스트 계획 수립</a:t>
            </a:r>
          </a:p>
        </p:txBody>
      </p:sp>
      <p:sp>
        <p:nvSpPr>
          <p:cNvPr id="12" name="BENCH_INSIGHT_CARD"/>
          <p:cNvSpPr/>
          <p:nvPr/>
        </p:nvSpPr>
        <p:spPr>
          <a:xfrm>
            <a:off x="658368" y="3061411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NCH_DECOR"/>
          <p:cNvSpPr/>
          <p:nvPr/>
        </p:nvSpPr>
        <p:spPr>
          <a:xfrm>
            <a:off x="658368" y="3061411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BODY"/>
          <p:cNvSpPr txBox="1"/>
          <p:nvPr/>
        </p:nvSpPr>
        <p:spPr>
          <a:xfrm>
            <a:off x="859536" y="3207715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교육 지연: 백업 교육 프로그램 확보</a:t>
            </a:r>
          </a:p>
        </p:txBody>
      </p:sp>
      <p:sp>
        <p:nvSpPr>
          <p:cNvPr id="15" name="BENCH_INSIGHT_CARD"/>
          <p:cNvSpPr/>
          <p:nvPr/>
        </p:nvSpPr>
        <p:spPr>
          <a:xfrm>
            <a:off x="658368" y="4378147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DECOR"/>
          <p:cNvSpPr/>
          <p:nvPr/>
        </p:nvSpPr>
        <p:spPr>
          <a:xfrm>
            <a:off x="658368" y="4378147"/>
            <a:ext cx="54864" cy="1170432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BODY"/>
          <p:cNvSpPr txBox="1"/>
          <p:nvPr/>
        </p:nvSpPr>
        <p:spPr>
          <a:xfrm>
            <a:off x="859536" y="4524451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센서 추가비: 예상 비용 범위 내 예산 확보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투자 권고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7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투자에 대한 조건부 승인을 제안합니다.</a:t>
            </a:r>
          </a:p>
        </p:txBody>
      </p:sp>
      <p:sp>
        <p:nvSpPr>
          <p:cNvPr id="9" name="BENCH_DECISION_CARD"/>
          <p:cNvSpPr/>
          <p:nvPr/>
        </p:nvSpPr>
        <p:spPr>
          <a:xfrm>
            <a:off x="7955279" y="1700784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ISION_ACCENT"/>
          <p:cNvSpPr/>
          <p:nvPr/>
        </p:nvSpPr>
        <p:spPr>
          <a:xfrm>
            <a:off x="7955279" y="1700784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ISION_LABEL"/>
          <p:cNvSpPr txBox="1"/>
          <p:nvPr/>
        </p:nvSpPr>
        <p:spPr>
          <a:xfrm>
            <a:off x="8229600" y="1883664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2" name="BENCH_DECISION"/>
          <p:cNvSpPr txBox="1"/>
          <p:nvPr/>
        </p:nvSpPr>
        <p:spPr>
          <a:xfrm>
            <a:off x="8229600" y="2221991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3년 이내 회수 가능하고, 주요 리스크는 완화 가능한 수준이므로 투자에 조건부 승인을 내립니다.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