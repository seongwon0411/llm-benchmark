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Incident Review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6장 PPT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공장 사고 리뷰용 보고서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타임라인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발생 시기와 주요 이벤트를 시각화</a:t>
            </a:r>
          </a:p>
        </p:txBody>
      </p:sp>
      <p:sp>
        <p:nvSpPr>
          <p:cNvPr id="9" name="BENCH_TIMELINE"/>
          <p:cNvSpPr/>
          <p:nvPr/>
        </p:nvSpPr>
        <p:spPr>
          <a:xfrm>
            <a:off x="713232" y="3701125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TIMELINE"/>
          <p:cNvSpPr/>
          <p:nvPr/>
        </p:nvSpPr>
        <p:spPr>
          <a:xfrm>
            <a:off x="1590507" y="3627973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TIMELINE_TIME"/>
          <p:cNvSpPr txBox="1"/>
          <p:nvPr/>
        </p:nvSpPr>
        <p:spPr>
          <a:xfrm>
            <a:off x="884407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14:02</a:t>
            </a:r>
          </a:p>
        </p:txBody>
      </p:sp>
      <p:sp>
        <p:nvSpPr>
          <p:cNvPr id="12" name="BENCH_TIMELINE_TEXT"/>
          <p:cNvSpPr txBox="1"/>
          <p:nvPr/>
        </p:nvSpPr>
        <p:spPr>
          <a:xfrm>
            <a:off x="884407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14:02 고온 경고</a:t>
            </a:r>
          </a:p>
        </p:txBody>
      </p:sp>
      <p:sp>
        <p:nvSpPr>
          <p:cNvPr id="13" name="BENCH_TIMELINE"/>
          <p:cNvSpPr/>
          <p:nvPr/>
        </p:nvSpPr>
        <p:spPr>
          <a:xfrm>
            <a:off x="3730203" y="3627973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TIMELINE_TIME"/>
          <p:cNvSpPr txBox="1"/>
          <p:nvPr/>
        </p:nvSpPr>
        <p:spPr>
          <a:xfrm>
            <a:off x="3024103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14:04</a:t>
            </a:r>
          </a:p>
        </p:txBody>
      </p:sp>
      <p:sp>
        <p:nvSpPr>
          <p:cNvPr id="15" name="BENCH_TIMELINE_TEXT"/>
          <p:cNvSpPr txBox="1"/>
          <p:nvPr/>
        </p:nvSpPr>
        <p:spPr>
          <a:xfrm>
            <a:off x="3024103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14:04 91.1C</a:t>
            </a:r>
          </a:p>
        </p:txBody>
      </p:sp>
      <p:sp>
        <p:nvSpPr>
          <p:cNvPr id="16" name="BENCH_TIMELINE"/>
          <p:cNvSpPr/>
          <p:nvPr/>
        </p:nvSpPr>
        <p:spPr>
          <a:xfrm>
            <a:off x="5869899" y="3627973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TIMELINE_TIME"/>
          <p:cNvSpPr txBox="1"/>
          <p:nvPr/>
        </p:nvSpPr>
        <p:spPr>
          <a:xfrm>
            <a:off x="5163799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14:07</a:t>
            </a:r>
          </a:p>
        </p:txBody>
      </p:sp>
      <p:sp>
        <p:nvSpPr>
          <p:cNvPr id="18" name="BENCH_TIMELINE_TEXT"/>
          <p:cNvSpPr txBox="1"/>
          <p:nvPr/>
        </p:nvSpPr>
        <p:spPr>
          <a:xfrm>
            <a:off x="5163799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14:07 보호정지</a:t>
            </a:r>
          </a:p>
        </p:txBody>
      </p:sp>
      <p:sp>
        <p:nvSpPr>
          <p:cNvPr id="19" name="BENCH_TIMELINE"/>
          <p:cNvSpPr/>
          <p:nvPr/>
        </p:nvSpPr>
        <p:spPr>
          <a:xfrm>
            <a:off x="8009595" y="3627973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TIMELINE_TIME"/>
          <p:cNvSpPr txBox="1"/>
          <p:nvPr/>
        </p:nvSpPr>
        <p:spPr>
          <a:xfrm>
            <a:off x="7303495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14:16</a:t>
            </a:r>
          </a:p>
        </p:txBody>
      </p:sp>
      <p:sp>
        <p:nvSpPr>
          <p:cNvPr id="21" name="BENCH_TIMELINE_TEXT"/>
          <p:cNvSpPr txBox="1"/>
          <p:nvPr/>
        </p:nvSpPr>
        <p:spPr>
          <a:xfrm>
            <a:off x="7303495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14:16 냉각 흡입구 분진 확인</a:t>
            </a:r>
          </a:p>
        </p:txBody>
      </p:sp>
      <p:sp>
        <p:nvSpPr>
          <p:cNvPr id="22" name="BENCH_TIMELINE"/>
          <p:cNvSpPr/>
          <p:nvPr/>
        </p:nvSpPr>
        <p:spPr>
          <a:xfrm>
            <a:off x="10149291" y="3627973"/>
            <a:ext cx="164592" cy="16459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ENCH_TIMELINE_TIME"/>
          <p:cNvSpPr txBox="1"/>
          <p:nvPr/>
        </p:nvSpPr>
        <p:spPr>
          <a:xfrm>
            <a:off x="9443191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14:31</a:t>
            </a:r>
          </a:p>
        </p:txBody>
      </p:sp>
      <p:sp>
        <p:nvSpPr>
          <p:cNvPr id="24" name="BENCH_TIMELINE_TEXT"/>
          <p:cNvSpPr txBox="1"/>
          <p:nvPr/>
        </p:nvSpPr>
        <p:spPr>
          <a:xfrm>
            <a:off x="9443191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14:31 분진 제거 후 재가동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발생의 직접적인 원인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고온 경고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14:02</a:t>
            </a:r>
          </a:p>
        </p:txBody>
      </p:sp>
      <p:sp>
        <p:nvSpPr>
          <p:cNvPr id="13" name="BENCH_KPI_DETAIL"/>
          <p:cNvSpPr txBox="1"/>
          <p:nvPr/>
        </p:nvSpPr>
        <p:spPr>
          <a:xfrm>
            <a:off x="859536" y="2596896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91.1C</a:t>
            </a:r>
          </a:p>
        </p:txBody>
      </p:sp>
      <p:sp>
        <p:nvSpPr>
          <p:cNvPr id="14" name="BENCH_KPI_CARD"/>
          <p:cNvSpPr/>
          <p:nvPr/>
        </p:nvSpPr>
        <p:spPr>
          <a:xfrm>
            <a:off x="6172200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172200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KPI_LABEL"/>
          <p:cNvSpPr txBox="1"/>
          <p:nvPr/>
        </p:nvSpPr>
        <p:spPr>
          <a:xfrm>
            <a:off x="6373368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보호정지</a:t>
            </a:r>
          </a:p>
        </p:txBody>
      </p:sp>
      <p:sp>
        <p:nvSpPr>
          <p:cNvPr id="17" name="BENCH_KPI_VALUE"/>
          <p:cNvSpPr txBox="1"/>
          <p:nvPr/>
        </p:nvSpPr>
        <p:spPr>
          <a:xfrm>
            <a:off x="6373368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14:07</a:t>
            </a:r>
          </a:p>
        </p:txBody>
      </p:sp>
      <p:sp>
        <p:nvSpPr>
          <p:cNvPr id="18" name="BENCH_KPI_DETAIL"/>
          <p:cNvSpPr txBox="1"/>
          <p:nvPr/>
        </p:nvSpPr>
        <p:spPr>
          <a:xfrm>
            <a:off x="6373368" y="2596896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안전 절차 활성화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근본원인 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진동 데이터 누락으로 근본 원인 확정 지연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74467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89097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분진이 근본 원인으로 단정하지 않음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061411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07715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진동 센서 수집 누락 확인 필요</a:t>
            </a:r>
          </a:p>
        </p:txBody>
      </p:sp>
      <p:sp>
        <p:nvSpPr>
          <p:cNvPr id="15" name="BENCH_INSIGHT_CARD"/>
          <p:cNvSpPr/>
          <p:nvPr/>
        </p:nvSpPr>
        <p:spPr>
          <a:xfrm>
            <a:off x="658368" y="4378147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5836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BODY"/>
          <p:cNvSpPr txBox="1"/>
          <p:nvPr/>
        </p:nvSpPr>
        <p:spPr>
          <a:xfrm>
            <a:off x="859536" y="4524451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다른 요인(예: 공기 흐름) 검토 권장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조치계획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대응 조치 계획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흡입구 청소주기 4주 준수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설비팀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진동센서 수집 누락 복구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자동화팀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과열 RCA 재검증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품질팀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 및 다음 단계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원인 분석 완료 및 조치 계획 실행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1086307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10533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다음 검토일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1053388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2주 후</a:t>
            </a:r>
          </a:p>
        </p:txBody>
      </p:sp>
      <p:sp>
        <p:nvSpPr>
          <p:cNvPr id="13" name="BENCH_KPI_DETAIL"/>
          <p:cNvSpPr txBox="1"/>
          <p:nvPr/>
        </p:nvSpPr>
        <p:spPr>
          <a:xfrm>
            <a:off x="859536" y="2596896"/>
            <a:ext cx="105338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RCA 재검증</a:t>
            </a:r>
          </a:p>
        </p:txBody>
      </p:sp>
      <p:sp>
        <p:nvSpPr>
          <p:cNvPr id="14" name="BENCH_DECISION_CARD"/>
          <p:cNvSpPr/>
          <p:nvPr/>
        </p:nvSpPr>
        <p:spPr>
          <a:xfrm>
            <a:off x="7955279" y="2999232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ISION_ACCENT"/>
          <p:cNvSpPr/>
          <p:nvPr/>
        </p:nvSpPr>
        <p:spPr>
          <a:xfrm>
            <a:off x="7955279" y="2999232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ISION_LABEL"/>
          <p:cNvSpPr txBox="1"/>
          <p:nvPr/>
        </p:nvSpPr>
        <p:spPr>
          <a:xfrm>
            <a:off x="8229600" y="3182112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7" name="BENCH_DECISION"/>
          <p:cNvSpPr txBox="1"/>
          <p:nvPr/>
        </p:nvSpPr>
        <p:spPr>
          <a:xfrm>
            <a:off x="8229600" y="3520439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진동 데이터 수집을 위한 추가 점검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