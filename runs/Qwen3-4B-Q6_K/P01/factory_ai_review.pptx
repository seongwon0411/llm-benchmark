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Output Units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dPt>
            <c:idx val="0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1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2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120000.0</c:v>
                </c:pt>
                <c:pt idx="1">
                  <c:v>128000.0</c:v>
                </c:pt>
                <c:pt idx="2">
                  <c:v>35000.0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Rate</c:v>
                </c:pt>
              </c:strCache>
            </c:strRef>
          </c:tx>
          <c:spPr>
            <a:solidFill>
              <a:srgbClr val="2F6BFF"/>
            </a:solidFill>
            <a:ln w="28575">
              <a:solidFill>
                <a:srgbClr val="2F6BFF"/>
              </a:solidFill>
            </a:ln>
          </c:spPr>
          <c:marker>
            <c:symbol val="circle"/>
            <c:size val="6"/>
          </c:marke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5.2</c:v>
                </c:pt>
                <c:pt idx="1">
                  <c:v>4.8</c:v>
                </c:pt>
                <c:pt idx="2">
                  <c:v>3.1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OEE</c:v>
                </c:pt>
              </c:strCache>
            </c:strRef>
          </c:tx>
          <c:spPr>
            <a:solidFill>
              <a:srgbClr val="00A6A6"/>
            </a:solidFill>
            <a:ln w="28575">
              <a:solidFill>
                <a:srgbClr val="00A6A6"/>
              </a:solidFill>
            </a:ln>
          </c:spPr>
          <c:marker>
            <c:symbol val="circle"/>
            <c:size val="6"/>
          </c:marke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71.0</c:v>
                </c:pt>
                <c:pt idx="1">
                  <c:v>74.0</c:v>
                </c:pt>
                <c:pt idx="2">
                  <c:v>81.0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Factory AI Performance &amp; Expansion Review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2024-2026 KPI Analysis</a:t>
            </a:r>
          </a:p>
        </p:txBody>
      </p:sp>
      <p:sp>
        <p:nvSpPr>
          <p:cNvPr id="7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AI implementation shows positive trends in efficiency and output</a:t>
            </a:r>
          </a:p>
        </p:txBody>
      </p:sp>
      <p:sp>
        <p:nvSpPr>
          <p:cNvPr id="9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10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Key Metrics Overview 2024-2025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DECISION_CARD"/>
          <p:cNvSpPr/>
          <p:nvPr/>
        </p:nvSpPr>
        <p:spPr>
          <a:xfrm>
            <a:off x="7955279" y="1042415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DECISION_ACCENT"/>
          <p:cNvSpPr/>
          <p:nvPr/>
        </p:nvSpPr>
        <p:spPr>
          <a:xfrm>
            <a:off x="7955279" y="1042415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DECISION_LABEL"/>
          <p:cNvSpPr txBox="1"/>
          <p:nvPr/>
        </p:nvSpPr>
        <p:spPr>
          <a:xfrm>
            <a:off x="8229600" y="1225295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0" name="BENCH_DECISION"/>
          <p:cNvSpPr txBox="1"/>
          <p:nvPr/>
        </p:nvSpPr>
        <p:spPr>
          <a:xfrm>
            <a:off x="8229600" y="1563624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2026 data reflects pilot line performance, not full factory</a:t>
            </a:r>
          </a:p>
        </p:txBody>
      </p:sp>
      <p:sp>
        <p:nvSpPr>
          <p:cNvPr id="11" name="BENCH_INSIGHT_CARD"/>
          <p:cNvSpPr/>
          <p:nvPr/>
        </p:nvSpPr>
        <p:spPr>
          <a:xfrm>
            <a:off x="658368" y="1168054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DECOR"/>
          <p:cNvSpPr/>
          <p:nvPr/>
        </p:nvSpPr>
        <p:spPr>
          <a:xfrm>
            <a:off x="658368" y="1168054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BODY"/>
          <p:cNvSpPr txBox="1"/>
          <p:nvPr/>
        </p:nvSpPr>
        <p:spPr>
          <a:xfrm>
            <a:off x="859536" y="1314358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2024: 120,000 units, 5.2% defect rate, 71% OEE</a:t>
            </a:r>
          </a:p>
        </p:txBody>
      </p:sp>
      <p:sp>
        <p:nvSpPr>
          <p:cNvPr id="14" name="BENCH_INSIGHT_CARD"/>
          <p:cNvSpPr/>
          <p:nvPr/>
        </p:nvSpPr>
        <p:spPr>
          <a:xfrm>
            <a:off x="658368" y="2484790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658368" y="2484790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BODY"/>
          <p:cNvSpPr txBox="1"/>
          <p:nvPr/>
        </p:nvSpPr>
        <p:spPr>
          <a:xfrm>
            <a:off x="859536" y="2631094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2025: 128,000 units, 4.8% defect rate, 74% OEE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Pilot Line Performance (2026)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KPI_CARD"/>
          <p:cNvSpPr/>
          <p:nvPr/>
        </p:nvSpPr>
        <p:spPr>
          <a:xfrm>
            <a:off x="658368" y="1042415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DECOR"/>
          <p:cNvSpPr/>
          <p:nvPr/>
        </p:nvSpPr>
        <p:spPr>
          <a:xfrm>
            <a:off x="658368" y="1042415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KPI_LABEL"/>
          <p:cNvSpPr txBox="1"/>
          <p:nvPr/>
        </p:nvSpPr>
        <p:spPr>
          <a:xfrm>
            <a:off x="859536" y="1188719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Defect Rate</a:t>
            </a:r>
          </a:p>
        </p:txBody>
      </p:sp>
      <p:sp>
        <p:nvSpPr>
          <p:cNvPr id="10" name="BENCH_KPI_VALUE"/>
          <p:cNvSpPr txBox="1"/>
          <p:nvPr/>
        </p:nvSpPr>
        <p:spPr>
          <a:xfrm>
            <a:off x="859536" y="1435607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3.1%</a:t>
            </a:r>
          </a:p>
        </p:txBody>
      </p:sp>
      <p:sp>
        <p:nvSpPr>
          <p:cNvPr id="11" name="BENCH_KPI_DETAIL"/>
          <p:cNvSpPr txBox="1"/>
          <p:nvPr/>
        </p:nvSpPr>
        <p:spPr>
          <a:xfrm>
            <a:off x="859536" y="1938528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Pilot Line 2026</a:t>
            </a:r>
          </a:p>
        </p:txBody>
      </p:sp>
      <p:sp>
        <p:nvSpPr>
          <p:cNvPr id="12" name="BENCH_KPI_CARD"/>
          <p:cNvSpPr/>
          <p:nvPr/>
        </p:nvSpPr>
        <p:spPr>
          <a:xfrm>
            <a:off x="6172200" y="1042415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172200" y="1042415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KPI_LABEL"/>
          <p:cNvSpPr txBox="1"/>
          <p:nvPr/>
        </p:nvSpPr>
        <p:spPr>
          <a:xfrm>
            <a:off x="6373368" y="1188719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OEE</a:t>
            </a:r>
          </a:p>
        </p:txBody>
      </p:sp>
      <p:sp>
        <p:nvSpPr>
          <p:cNvPr id="15" name="BENCH_KPI_VALUE"/>
          <p:cNvSpPr txBox="1"/>
          <p:nvPr/>
        </p:nvSpPr>
        <p:spPr>
          <a:xfrm>
            <a:off x="6373368" y="1435607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81%</a:t>
            </a:r>
          </a:p>
        </p:txBody>
      </p:sp>
      <p:sp>
        <p:nvSpPr>
          <p:cNvPr id="16" name="BENCH_KPI_DETAIL"/>
          <p:cNvSpPr txBox="1"/>
          <p:nvPr/>
        </p:nvSpPr>
        <p:spPr>
          <a:xfrm>
            <a:off x="6373368" y="1938528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Pilot Line 2026</a:t>
            </a:r>
          </a:p>
        </p:txBody>
      </p:sp>
      <p:sp>
        <p:nvSpPr>
          <p:cNvPr id="17" name="BENCH_INSIGHT_CARD"/>
          <p:cNvSpPr/>
          <p:nvPr/>
        </p:nvSpPr>
        <p:spPr>
          <a:xfrm>
            <a:off x="658368" y="2346350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DECOR"/>
          <p:cNvSpPr/>
          <p:nvPr/>
        </p:nvSpPr>
        <p:spPr>
          <a:xfrm>
            <a:off x="658368" y="2346350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BODY"/>
          <p:cNvSpPr txBox="1"/>
          <p:nvPr/>
        </p:nvSpPr>
        <p:spPr>
          <a:xfrm>
            <a:off x="859536" y="249265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35,000 units</a:t>
            </a:r>
          </a:p>
        </p:txBody>
      </p:sp>
      <p:sp>
        <p:nvSpPr>
          <p:cNvPr id="20" name="BENCH_INSIGHT_CARD"/>
          <p:cNvSpPr/>
          <p:nvPr/>
        </p:nvSpPr>
        <p:spPr>
          <a:xfrm>
            <a:off x="658368" y="3663086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DECOR"/>
          <p:cNvSpPr/>
          <p:nvPr/>
        </p:nvSpPr>
        <p:spPr>
          <a:xfrm>
            <a:off x="658368" y="3663086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ENCH_BODY"/>
          <p:cNvSpPr txBox="1"/>
          <p:nvPr/>
        </p:nvSpPr>
        <p:spPr>
          <a:xfrm>
            <a:off x="859536" y="380939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3.1% defect rate</a:t>
            </a:r>
          </a:p>
        </p:txBody>
      </p:sp>
      <p:sp>
        <p:nvSpPr>
          <p:cNvPr id="23" name="BENCH_INSIGHT_CARD"/>
          <p:cNvSpPr/>
          <p:nvPr/>
        </p:nvSpPr>
        <p:spPr>
          <a:xfrm>
            <a:off x="658368" y="4979822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ENCH_DECOR"/>
          <p:cNvSpPr/>
          <p:nvPr/>
        </p:nvSpPr>
        <p:spPr>
          <a:xfrm>
            <a:off x="658368" y="4979822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ENCH_BODY"/>
          <p:cNvSpPr txBox="1"/>
          <p:nvPr/>
        </p:nvSpPr>
        <p:spPr>
          <a:xfrm>
            <a:off x="859536" y="5126126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81% OEE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Output Units Growth (2024-2026)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graphicFrame>
        <p:nvGraphicFramePr>
          <p:cNvPr id="7" name="BENCH_CHART"/>
          <p:cNvGraphicFramePr>
            <a:graphicFrameLocks noGrp="1"/>
          </p:cNvGraphicFramePr>
          <p:nvPr/>
        </p:nvGraphicFramePr>
        <p:xfrm>
          <a:off x="713232" y="1042415"/>
          <a:ext cx="10771632" cy="51937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Defect Rate &amp; OEE Trends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graphicFrame>
        <p:nvGraphicFramePr>
          <p:cNvPr id="7" name="BENCH_CHART"/>
          <p:cNvGraphicFramePr>
            <a:graphicFrameLocks noGrp="1"/>
          </p:cNvGraphicFramePr>
          <p:nvPr/>
        </p:nvGraphicFramePr>
        <p:xfrm>
          <a:off x="713232" y="1042415"/>
          <a:ext cx="10771632" cy="51937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Expansion Recommendations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KPI_CARD"/>
          <p:cNvSpPr/>
          <p:nvPr/>
        </p:nvSpPr>
        <p:spPr>
          <a:xfrm>
            <a:off x="658368" y="1042415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DECOR"/>
          <p:cNvSpPr/>
          <p:nvPr/>
        </p:nvSpPr>
        <p:spPr>
          <a:xfrm>
            <a:off x="658368" y="1042415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KPI_LABEL"/>
          <p:cNvSpPr txBox="1"/>
          <p:nvPr/>
        </p:nvSpPr>
        <p:spPr>
          <a:xfrm>
            <a:off x="859536" y="1188719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Risk Level</a:t>
            </a:r>
          </a:p>
        </p:txBody>
      </p:sp>
      <p:sp>
        <p:nvSpPr>
          <p:cNvPr id="10" name="BENCH_KPI_VALUE"/>
          <p:cNvSpPr txBox="1"/>
          <p:nvPr/>
        </p:nvSpPr>
        <p:spPr>
          <a:xfrm>
            <a:off x="859536" y="1435607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Medium</a:t>
            </a:r>
          </a:p>
        </p:txBody>
      </p:sp>
      <p:sp>
        <p:nvSpPr>
          <p:cNvPr id="11" name="BENCH_KPI_DETAIL"/>
          <p:cNvSpPr txBox="1"/>
          <p:nvPr/>
        </p:nvSpPr>
        <p:spPr>
          <a:xfrm>
            <a:off x="859536" y="1938528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Pilot line performance needs full factory verification</a:t>
            </a:r>
          </a:p>
        </p:txBody>
      </p:sp>
      <p:sp>
        <p:nvSpPr>
          <p:cNvPr id="12" name="BENCH_KPI_CARD"/>
          <p:cNvSpPr/>
          <p:nvPr/>
        </p:nvSpPr>
        <p:spPr>
          <a:xfrm>
            <a:off x="6172200" y="1042415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172200" y="1042415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KPI_LABEL"/>
          <p:cNvSpPr txBox="1"/>
          <p:nvPr/>
        </p:nvSpPr>
        <p:spPr>
          <a:xfrm>
            <a:off x="6373368" y="1188719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Next Step</a:t>
            </a:r>
          </a:p>
        </p:txBody>
      </p:sp>
      <p:sp>
        <p:nvSpPr>
          <p:cNvPr id="15" name="BENCH_KPI_VALUE"/>
          <p:cNvSpPr txBox="1"/>
          <p:nvPr/>
        </p:nvSpPr>
        <p:spPr>
          <a:xfrm>
            <a:off x="6373368" y="1435607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Q4 2026 pilot expansion review</a:t>
            </a:r>
          </a:p>
        </p:txBody>
      </p:sp>
      <p:sp>
        <p:nvSpPr>
          <p:cNvPr id="16" name="BENCH_DECISION_CARD"/>
          <p:cNvSpPr/>
          <p:nvPr/>
        </p:nvSpPr>
        <p:spPr>
          <a:xfrm>
            <a:off x="7955279" y="2340863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ISION_ACCENT"/>
          <p:cNvSpPr/>
          <p:nvPr/>
        </p:nvSpPr>
        <p:spPr>
          <a:xfrm>
            <a:off x="7955279" y="2340863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DECISION_LABEL"/>
          <p:cNvSpPr txBox="1"/>
          <p:nvPr/>
        </p:nvSpPr>
        <p:spPr>
          <a:xfrm>
            <a:off x="8229600" y="252374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9" name="BENCH_DECISION"/>
          <p:cNvSpPr txBox="1"/>
          <p:nvPr/>
        </p:nvSpPr>
        <p:spPr>
          <a:xfrm>
            <a:off x="8229600" y="286207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AI expansion requires: 1) Pilot line validation 2) Full factory scalability testing 3) Risk mitigation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Action Plan Timeline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7</a:t>
            </a:r>
          </a:p>
        </p:txBody>
      </p:sp>
      <p:sp>
        <p:nvSpPr>
          <p:cNvPr id="7" name="BENCH_TIMELINE"/>
          <p:cNvSpPr/>
          <p:nvPr/>
        </p:nvSpPr>
        <p:spPr>
          <a:xfrm>
            <a:off x="713232" y="3319272"/>
            <a:ext cx="10698480" cy="3657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IMELINE"/>
          <p:cNvSpPr/>
          <p:nvPr/>
        </p:nvSpPr>
        <p:spPr>
          <a:xfrm>
            <a:off x="2906420" y="3246120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IMELINE_TIME"/>
          <p:cNvSpPr txBox="1"/>
          <p:nvPr/>
        </p:nvSpPr>
        <p:spPr>
          <a:xfrm>
            <a:off x="1141171" y="1207007"/>
            <a:ext cx="4386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2026-07</a:t>
            </a:r>
          </a:p>
        </p:txBody>
      </p:sp>
      <p:sp>
        <p:nvSpPr>
          <p:cNvPr id="10" name="BENCH_TIMELINE_TEXT"/>
          <p:cNvSpPr txBox="1"/>
          <p:nvPr/>
        </p:nvSpPr>
        <p:spPr>
          <a:xfrm>
            <a:off x="1141171" y="1773936"/>
            <a:ext cx="4386376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Q3 2026: Pilot line optimization</a:t>
            </a:r>
          </a:p>
        </p:txBody>
      </p:sp>
      <p:sp>
        <p:nvSpPr>
          <p:cNvPr id="11" name="BENCH_TIMELINE"/>
          <p:cNvSpPr/>
          <p:nvPr/>
        </p:nvSpPr>
        <p:spPr>
          <a:xfrm>
            <a:off x="8255660" y="3246120"/>
            <a:ext cx="164592" cy="1645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TIMELINE_TIME"/>
          <p:cNvSpPr txBox="1"/>
          <p:nvPr/>
        </p:nvSpPr>
        <p:spPr>
          <a:xfrm>
            <a:off x="6490411" y="1207007"/>
            <a:ext cx="4386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2026-10</a:t>
            </a:r>
          </a:p>
        </p:txBody>
      </p:sp>
      <p:sp>
        <p:nvSpPr>
          <p:cNvPr id="13" name="BENCH_TIMELINE_TEXT"/>
          <p:cNvSpPr txBox="1"/>
          <p:nvPr/>
        </p:nvSpPr>
        <p:spPr>
          <a:xfrm>
            <a:off x="6490411" y="1773936"/>
            <a:ext cx="4386376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Q4 2026: Full factory AI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Conclusion &amp; Next Steps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8</a:t>
            </a:r>
          </a:p>
        </p:txBody>
      </p:sp>
      <p:sp>
        <p:nvSpPr>
          <p:cNvPr id="7" name="BENCH_DECISION_CARD"/>
          <p:cNvSpPr/>
          <p:nvPr/>
        </p:nvSpPr>
        <p:spPr>
          <a:xfrm>
            <a:off x="7955279" y="1042415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DECISION_ACCENT"/>
          <p:cNvSpPr/>
          <p:nvPr/>
        </p:nvSpPr>
        <p:spPr>
          <a:xfrm>
            <a:off x="7955279" y="1042415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DECISION_LABEL"/>
          <p:cNvSpPr txBox="1"/>
          <p:nvPr/>
        </p:nvSpPr>
        <p:spPr>
          <a:xfrm>
            <a:off x="8229600" y="1225295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0" name="BENCH_DECISION"/>
          <p:cNvSpPr txBox="1"/>
          <p:nvPr/>
        </p:nvSpPr>
        <p:spPr>
          <a:xfrm>
            <a:off x="8229600" y="1563624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Decision: Proceed with pilot expansion if Q4 2026 results meet thresholds</a:t>
            </a:r>
          </a:p>
        </p:txBody>
      </p:sp>
      <p:sp>
        <p:nvSpPr>
          <p:cNvPr id="11" name="BENCH_INSIGHT_CARD"/>
          <p:cNvSpPr/>
          <p:nvPr/>
        </p:nvSpPr>
        <p:spPr>
          <a:xfrm>
            <a:off x="658368" y="1089050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DECOR"/>
          <p:cNvSpPr/>
          <p:nvPr/>
        </p:nvSpPr>
        <p:spPr>
          <a:xfrm>
            <a:off x="658368" y="1089050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BODY"/>
          <p:cNvSpPr txBox="1"/>
          <p:nvPr/>
        </p:nvSpPr>
        <p:spPr>
          <a:xfrm>
            <a:off x="859536" y="1235354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AI implementation shows clear efficiency gains</a:t>
            </a:r>
          </a:p>
        </p:txBody>
      </p:sp>
      <p:sp>
        <p:nvSpPr>
          <p:cNvPr id="14" name="BENCH_INSIGHT_CARD"/>
          <p:cNvSpPr/>
          <p:nvPr/>
        </p:nvSpPr>
        <p:spPr>
          <a:xfrm>
            <a:off x="658368" y="2405786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658368" y="2405786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BODY"/>
          <p:cNvSpPr txBox="1"/>
          <p:nvPr/>
        </p:nvSpPr>
        <p:spPr>
          <a:xfrm>
            <a:off x="859536" y="2552090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Pilot line performance meets 2026 targets</a:t>
            </a:r>
          </a:p>
        </p:txBody>
      </p:sp>
      <p:sp>
        <p:nvSpPr>
          <p:cNvPr id="17" name="BENCH_INSIGHT_CARD"/>
          <p:cNvSpPr/>
          <p:nvPr/>
        </p:nvSpPr>
        <p:spPr>
          <a:xfrm>
            <a:off x="658368" y="3722522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DECOR"/>
          <p:cNvSpPr/>
          <p:nvPr/>
        </p:nvSpPr>
        <p:spPr>
          <a:xfrm>
            <a:off x="658368" y="3722522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BODY"/>
          <p:cNvSpPr txBox="1"/>
          <p:nvPr/>
        </p:nvSpPr>
        <p:spPr>
          <a:xfrm>
            <a:off x="859536" y="3868826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Expansion requires full factory validation and risk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