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AI 검사 시스템 도입 의사결정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경영진에게 제안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1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조건부 승인</a:t>
            </a:r>
          </a:p>
        </p:txBody>
      </p:sp>
      <p:sp>
        <p:nvSpPr>
          <p:cNvPr id="10" name="BENCH_DECISION_CARD"/>
          <p:cNvSpPr/>
          <p:nvPr/>
        </p:nvSpPr>
        <p:spPr>
          <a:xfrm>
            <a:off x="7955279" y="1773936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ACCENT"/>
          <p:cNvSpPr/>
          <p:nvPr/>
        </p:nvSpPr>
        <p:spPr>
          <a:xfrm>
            <a:off x="7955279" y="1773936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DECISION_LABEL"/>
          <p:cNvSpPr txBox="1"/>
          <p:nvPr/>
        </p:nvSpPr>
        <p:spPr>
          <a:xfrm>
            <a:off x="8229600" y="1956816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3" name="BENCH_DECISION"/>
          <p:cNvSpPr txBox="1"/>
          <p:nvPr/>
        </p:nvSpPr>
        <p:spPr>
          <a:xfrm>
            <a:off x="8229600" y="2295144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조건부 승인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투자 비용 및 유지비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HERO_CARD"/>
          <p:cNvSpPr/>
          <p:nvPr/>
        </p:nvSpPr>
        <p:spPr>
          <a:xfrm>
            <a:off x="658368" y="1042415"/>
            <a:ext cx="3703320" cy="233172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HERO_LABEL"/>
          <p:cNvSpPr txBox="1"/>
          <p:nvPr/>
        </p:nvSpPr>
        <p:spPr>
          <a:xfrm>
            <a:off x="969264" y="1298448"/>
            <a:ext cx="30815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F6BFF"/>
                </a:solidFill>
                <a:latin typeface="Malgun Gothic"/>
              </a:rPr>
              <a:t>투자 비용 및 유지비</a:t>
            </a:r>
          </a:p>
        </p:txBody>
      </p:sp>
      <p:sp>
        <p:nvSpPr>
          <p:cNvPr id="9" name="BENCH_HERO_VALUE"/>
          <p:cNvSpPr txBox="1"/>
          <p:nvPr/>
        </p:nvSpPr>
        <p:spPr>
          <a:xfrm>
            <a:off x="969264" y="1755648"/>
            <a:ext cx="30815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0B1F33"/>
                </a:solidFill>
                <a:latin typeface="Malgun Gothic"/>
              </a:rPr>
              <a:t>4.2억원</a:t>
            </a:r>
          </a:p>
        </p:txBody>
      </p:sp>
      <p:sp>
        <p:nvSpPr>
          <p:cNvPr id="10" name="BENCH_HERO_DETAIL"/>
          <p:cNvSpPr txBox="1"/>
          <p:nvPr/>
        </p:nvSpPr>
        <p:spPr>
          <a:xfrm>
            <a:off x="969264" y="2487168"/>
            <a:ext cx="3081527" cy="64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085"/>
                </a:solidFill>
                <a:latin typeface="Malgun Gothic"/>
              </a:rPr>
              <a:t>AI 검사 시스템 투자비: 4.2억원</a:t>
            </a:r>
          </a:p>
        </p:txBody>
      </p:sp>
      <p:sp>
        <p:nvSpPr>
          <p:cNvPr id="11" name="BENCH_INSIGHT_CARD"/>
          <p:cNvSpPr/>
          <p:nvPr/>
        </p:nvSpPr>
        <p:spPr>
          <a:xfrm>
            <a:off x="4590288" y="1204813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DECOR"/>
          <p:cNvSpPr/>
          <p:nvPr/>
        </p:nvSpPr>
        <p:spPr>
          <a:xfrm>
            <a:off x="4590288" y="1204813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BODY"/>
          <p:cNvSpPr txBox="1"/>
          <p:nvPr/>
        </p:nvSpPr>
        <p:spPr>
          <a:xfrm>
            <a:off x="4791455" y="1351117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AI 검사 시스템 투자비: 4.2억원</a:t>
            </a:r>
          </a:p>
        </p:txBody>
      </p:sp>
      <p:sp>
        <p:nvSpPr>
          <p:cNvPr id="14" name="BENCH_INSIGHT_CARD"/>
          <p:cNvSpPr/>
          <p:nvPr/>
        </p:nvSpPr>
        <p:spPr>
          <a:xfrm>
            <a:off x="4590288" y="2521549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4590288" y="2521549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BODY"/>
          <p:cNvSpPr txBox="1"/>
          <p:nvPr/>
        </p:nvSpPr>
        <p:spPr>
          <a:xfrm>
            <a:off x="4791455" y="2667853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연간 유지비: 0.6억원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파일럿 결과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불량 손실 22% 감소, 예상 절감액 0.66억원</a:t>
            </a:r>
          </a:p>
        </p:txBody>
      </p:sp>
      <p:sp>
        <p:nvSpPr>
          <p:cNvPr id="9" name="BENCH_KPI_CARD"/>
          <p:cNvSpPr/>
          <p:nvPr/>
        </p:nvSpPr>
        <p:spPr>
          <a:xfrm>
            <a:off x="658368" y="1700784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00784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KPI_LABEL"/>
          <p:cNvSpPr txBox="1"/>
          <p:nvPr/>
        </p:nvSpPr>
        <p:spPr>
          <a:xfrm>
            <a:off x="859536" y="184708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불량 손실 감소</a:t>
            </a:r>
          </a:p>
        </p:txBody>
      </p:sp>
      <p:sp>
        <p:nvSpPr>
          <p:cNvPr id="12" name="BENCH_KPI_VALUE"/>
          <p:cNvSpPr txBox="1"/>
          <p:nvPr/>
        </p:nvSpPr>
        <p:spPr>
          <a:xfrm>
            <a:off x="859536" y="2093976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22%</a:t>
            </a:r>
          </a:p>
        </p:txBody>
      </p:sp>
      <p:sp>
        <p:nvSpPr>
          <p:cNvPr id="13" name="BENCH_KPI_DETAIL"/>
          <p:cNvSpPr txBox="1"/>
          <p:nvPr/>
        </p:nvSpPr>
        <p:spPr>
          <a:xfrm>
            <a:off x="859536" y="2596896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파일럿 라인에서 관측</a:t>
            </a:r>
          </a:p>
        </p:txBody>
      </p:sp>
      <p:sp>
        <p:nvSpPr>
          <p:cNvPr id="14" name="BENCH_KPI_CARD"/>
          <p:cNvSpPr/>
          <p:nvPr/>
        </p:nvSpPr>
        <p:spPr>
          <a:xfrm>
            <a:off x="6172200" y="1700784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6172200" y="1700784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KPI_LABEL"/>
          <p:cNvSpPr txBox="1"/>
          <p:nvPr/>
        </p:nvSpPr>
        <p:spPr>
          <a:xfrm>
            <a:off x="6373368" y="184708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예상 절감액</a:t>
            </a:r>
          </a:p>
        </p:txBody>
      </p:sp>
      <p:sp>
        <p:nvSpPr>
          <p:cNvPr id="17" name="BENCH_KPI_VALUE"/>
          <p:cNvSpPr txBox="1"/>
          <p:nvPr/>
        </p:nvSpPr>
        <p:spPr>
          <a:xfrm>
            <a:off x="6373368" y="2093976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0.66억원</a:t>
            </a:r>
          </a:p>
        </p:txBody>
      </p:sp>
      <p:sp>
        <p:nvSpPr>
          <p:cNvPr id="18" name="BENCH_KPI_DETAIL"/>
          <p:cNvSpPr txBox="1"/>
          <p:nvPr/>
        </p:nvSpPr>
        <p:spPr>
          <a:xfrm>
            <a:off x="6373368" y="2596896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연간 불량 손실 3억원 * 22%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검사 시간 단축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HERO_CARD"/>
          <p:cNvSpPr/>
          <p:nvPr/>
        </p:nvSpPr>
        <p:spPr>
          <a:xfrm>
            <a:off x="658368" y="1042415"/>
            <a:ext cx="3703320" cy="233172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HERO_LABEL"/>
          <p:cNvSpPr txBox="1"/>
          <p:nvPr/>
        </p:nvSpPr>
        <p:spPr>
          <a:xfrm>
            <a:off x="969264" y="1298448"/>
            <a:ext cx="30815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F6BFF"/>
                </a:solidFill>
                <a:latin typeface="Malgun Gothic"/>
              </a:rPr>
              <a:t>검사 시간 단축</a:t>
            </a:r>
          </a:p>
        </p:txBody>
      </p:sp>
      <p:sp>
        <p:nvSpPr>
          <p:cNvPr id="9" name="BENCH_HERO_VALUE"/>
          <p:cNvSpPr txBox="1"/>
          <p:nvPr/>
        </p:nvSpPr>
        <p:spPr>
          <a:xfrm>
            <a:off x="969264" y="1755648"/>
            <a:ext cx="30815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0B1F33"/>
                </a:solidFill>
                <a:latin typeface="Malgun Gothic"/>
              </a:rPr>
              <a:t>14%</a:t>
            </a:r>
          </a:p>
        </p:txBody>
      </p:sp>
      <p:sp>
        <p:nvSpPr>
          <p:cNvPr id="10" name="BENCH_HERO_DETAIL"/>
          <p:cNvSpPr txBox="1"/>
          <p:nvPr/>
        </p:nvSpPr>
        <p:spPr>
          <a:xfrm>
            <a:off x="969264" y="2487168"/>
            <a:ext cx="3081527" cy="64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085"/>
                </a:solidFill>
                <a:latin typeface="Malgun Gothic"/>
              </a:rPr>
              <a:t>파일럿 중 평균 검사시간이 14% 단축됨</a:t>
            </a:r>
          </a:p>
        </p:txBody>
      </p:sp>
      <p:sp>
        <p:nvSpPr>
          <p:cNvPr id="11" name="BENCH_INSIGHT_CARD"/>
          <p:cNvSpPr/>
          <p:nvPr/>
        </p:nvSpPr>
        <p:spPr>
          <a:xfrm>
            <a:off x="4590288" y="1283817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DECOR"/>
          <p:cNvSpPr/>
          <p:nvPr/>
        </p:nvSpPr>
        <p:spPr>
          <a:xfrm>
            <a:off x="4590288" y="1283817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BODY"/>
          <p:cNvSpPr txBox="1"/>
          <p:nvPr/>
        </p:nvSpPr>
        <p:spPr>
          <a:xfrm>
            <a:off x="4791455" y="1430121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파일럿 중 평균 검사시간이 14% 단축됨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불확실성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INSIGHT_CARD"/>
          <p:cNvSpPr/>
          <p:nvPr/>
        </p:nvSpPr>
        <p:spPr>
          <a:xfrm>
            <a:off x="658368" y="1204813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DECOR"/>
          <p:cNvSpPr/>
          <p:nvPr/>
        </p:nvSpPr>
        <p:spPr>
          <a:xfrm>
            <a:off x="658368" y="1204813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BODY"/>
          <p:cNvSpPr txBox="1"/>
          <p:nvPr/>
        </p:nvSpPr>
        <p:spPr>
          <a:xfrm>
            <a:off x="859536" y="1351117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전체 공장 확정 효과를 동일하게 가정할 근거 부족</a:t>
            </a:r>
          </a:p>
        </p:txBody>
      </p:sp>
      <p:sp>
        <p:nvSpPr>
          <p:cNvPr id="10" name="BENCH_INSIGHT_CARD"/>
          <p:cNvSpPr/>
          <p:nvPr/>
        </p:nvSpPr>
        <p:spPr>
          <a:xfrm>
            <a:off x="658368" y="2521549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OR"/>
          <p:cNvSpPr/>
          <p:nvPr/>
        </p:nvSpPr>
        <p:spPr>
          <a:xfrm>
            <a:off x="658368" y="2521549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BODY"/>
          <p:cNvSpPr txBox="1"/>
          <p:nvPr/>
        </p:nvSpPr>
        <p:spPr>
          <a:xfrm>
            <a:off x="859536" y="2667853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다른 라인에서도 동일한 결과 보장 가능성 미확실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다음 단계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INSIGHT_CARD"/>
          <p:cNvSpPr/>
          <p:nvPr/>
        </p:nvSpPr>
        <p:spPr>
          <a:xfrm>
            <a:off x="658368" y="1168054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DECOR"/>
          <p:cNvSpPr/>
          <p:nvPr/>
        </p:nvSpPr>
        <p:spPr>
          <a:xfrm>
            <a:off x="658368" y="1168054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BODY"/>
          <p:cNvSpPr txBox="1"/>
          <p:nvPr/>
        </p:nvSpPr>
        <p:spPr>
          <a:xfrm>
            <a:off x="859536" y="1314358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전체 6개 라인에서 파일럿 실시하여 실제 효과 확인</a:t>
            </a:r>
          </a:p>
        </p:txBody>
      </p:sp>
      <p:sp>
        <p:nvSpPr>
          <p:cNvPr id="10" name="BENCH_INSIGHT_CARD"/>
          <p:cNvSpPr/>
          <p:nvPr/>
        </p:nvSpPr>
        <p:spPr>
          <a:xfrm>
            <a:off x="658368" y="2484790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OR"/>
          <p:cNvSpPr/>
          <p:nvPr/>
        </p:nvSpPr>
        <p:spPr>
          <a:xfrm>
            <a:off x="658368" y="2484790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BODY"/>
          <p:cNvSpPr txBox="1"/>
          <p:nvPr/>
        </p:nvSpPr>
        <p:spPr>
          <a:xfrm>
            <a:off x="859536" y="263109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확장 계획 수립 및 필요한 자원 확보</a:t>
            </a:r>
          </a:p>
        </p:txBody>
      </p:sp>
      <p:sp>
        <p:nvSpPr>
          <p:cNvPr id="13" name="BENCH_CALLOUT_BG"/>
          <p:cNvSpPr/>
          <p:nvPr/>
        </p:nvSpPr>
        <p:spPr>
          <a:xfrm>
            <a:off x="658368" y="5779008"/>
            <a:ext cx="10863072" cy="47548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CALLOUT"/>
          <p:cNvSpPr txBox="1"/>
          <p:nvPr/>
        </p:nvSpPr>
        <p:spPr>
          <a:xfrm>
            <a:off x="868680" y="5879592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경영진의 조언에 따라 결정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