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누적 현금흐름 (백만 원)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현금흐름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-420.0</c:v>
                </c:pt>
                <c:pt idx="1">
                  <c:v>-315.0</c:v>
                </c:pt>
                <c:pt idx="2">
                  <c:v>-190.0</c:v>
                </c:pt>
                <c:pt idx="3">
                  <c:v>-45.0</c:v>
                </c:pt>
                <c:pt idx="4">
                  <c:v>110.0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투자심의위원회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프로젝트 투자 결정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프로젝트의 재무적 건강과 리스크를 분석하여 투자 결정을 내린다.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누적 현금흐름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투자비 포함 누적 관점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프로젝트의 총 현금흐름은 투자비를 포함한 누적 관점에서 시각화된다.</a:t>
            </a:r>
          </a:p>
        </p:txBody>
      </p:sp>
      <p:graphicFrame>
        <p:nvGraphicFramePr>
          <p:cNvPr id="10" name="BENCH_CHART"/>
          <p:cNvGraphicFramePr>
            <a:graphicFrameLocks noGrp="1"/>
          </p:cNvGraphicFramePr>
          <p:nvPr/>
        </p:nvGraphicFramePr>
        <p:xfrm>
          <a:off x="713232" y="1773936"/>
          <a:ext cx="10771632" cy="44622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회수시점 (Payback)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투자 비용 회복까지의 기간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프로젝트의 투자 비용을 회복하는 데 3년이 소요된다.</a:t>
            </a:r>
          </a:p>
        </p:txBody>
      </p:sp>
      <p:sp>
        <p:nvSpPr>
          <p:cNvPr id="10" name="BENCH_HERO_CARD"/>
          <p:cNvSpPr/>
          <p:nvPr/>
        </p:nvSpPr>
        <p:spPr>
          <a:xfrm>
            <a:off x="658368" y="1773936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HERO_LABEL"/>
          <p:cNvSpPr txBox="1"/>
          <p:nvPr/>
        </p:nvSpPr>
        <p:spPr>
          <a:xfrm>
            <a:off x="969264" y="2029967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회수시점 (Payback)</a:t>
            </a:r>
          </a:p>
        </p:txBody>
      </p:sp>
      <p:sp>
        <p:nvSpPr>
          <p:cNvPr id="12" name="BENCH_HERO_VALUE"/>
          <p:cNvSpPr txBox="1"/>
          <p:nvPr/>
        </p:nvSpPr>
        <p:spPr>
          <a:xfrm>
            <a:off x="969264" y="2487168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3년</a:t>
            </a:r>
          </a:p>
        </p:txBody>
      </p:sp>
      <p:sp>
        <p:nvSpPr>
          <p:cNvPr id="13" name="BENCH_HERO_DETAIL"/>
          <p:cNvSpPr txBox="1"/>
          <p:nvPr/>
        </p:nvSpPr>
        <p:spPr>
          <a:xfrm>
            <a:off x="969264" y="3218688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프로젝트의 투자 비용을 회복하는 데 3년이 소요된다.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4590288" y="1892442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4590288" y="1892442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4791455" y="2038746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투자 비용: 420백만 원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4590288" y="3209178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4590288" y="3209178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4791455" y="3355482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누적 현금흐름이 양수되는 시점: 3년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주요 리스크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프로젝트에 영향을 미칠 수 있는 주요 위험 요인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일반화 실패, 교육 지연, 센서 추가비 등 세 가지 주요 리스크가 존재한다.</a:t>
            </a:r>
          </a:p>
        </p:txBody>
      </p:sp>
      <p:graphicFrame>
        <p:nvGraphicFramePr>
          <p:cNvPr id="10" name="BENCH_TABLE"/>
          <p:cNvGraphicFramePr>
            <a:graphicFrameLocks noGrp="1"/>
          </p:cNvGraphicFramePr>
          <p:nvPr/>
        </p:nvGraphicFramePr>
        <p:xfrm>
          <a:off x="658368" y="1773936"/>
          <a:ext cx="10863072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11556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리스크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확률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영향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</a:tr>
              <a:tr h="111556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파일럿 일반화 실패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</a:tr>
              <a:tr h="111556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교육 지연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  <a:tr h="111556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센서 추가비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236B48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marL="91440" marR="91440" marT="54864" marB="54864">
                    <a:solidFill>
                      <a:srgbClr val="EAF6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리스크 관리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각 리스크에 대한 완화책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일반화 실패: 확장 전 충분한 테스트, 교육 지연: 강화된 교육 계획, 센서 추가비: 대체 제품 탐색</a:t>
            </a:r>
          </a:p>
        </p:txBody>
      </p:sp>
      <p:sp>
        <p:nvSpPr>
          <p:cNvPr id="10" name="BENCH_INSIGHT_CARD"/>
          <p:cNvSpPr/>
          <p:nvPr/>
        </p:nvSpPr>
        <p:spPr>
          <a:xfrm>
            <a:off x="658368" y="1813438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813438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BODY"/>
          <p:cNvSpPr txBox="1"/>
          <p:nvPr/>
        </p:nvSpPr>
        <p:spPr>
          <a:xfrm>
            <a:off x="859536" y="1959742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파일럿 일반화 실패: 확장 전 충분한 테스트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58368" y="3130174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58368" y="3130174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859536" y="3276478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교육 지연: 강화된 교육 계획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658368" y="4446910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658368" y="4446910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859536" y="459321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센서 추가비: 대체 제품 탐색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투자 결정 요약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프로젝트의 재무적 건강과 리스크 관리가 적절하여 투자를 권장한다.</a:t>
            </a:r>
          </a:p>
        </p:txBody>
      </p:sp>
      <p:sp>
        <p:nvSpPr>
          <p:cNvPr id="10" name="BENCH_HERO_CARD"/>
          <p:cNvSpPr/>
          <p:nvPr/>
        </p:nvSpPr>
        <p:spPr>
          <a:xfrm>
            <a:off x="658368" y="1773936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HERO_LABEL"/>
          <p:cNvSpPr txBox="1"/>
          <p:nvPr/>
        </p:nvSpPr>
        <p:spPr>
          <a:xfrm>
            <a:off x="969264" y="2029967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결론</a:t>
            </a:r>
          </a:p>
        </p:txBody>
      </p:sp>
      <p:sp>
        <p:nvSpPr>
          <p:cNvPr id="12" name="BENCH_HERO_VALUE"/>
          <p:cNvSpPr txBox="1"/>
          <p:nvPr/>
        </p:nvSpPr>
        <p:spPr>
          <a:xfrm>
            <a:off x="969264" y="2487168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3년</a:t>
            </a:r>
          </a:p>
        </p:txBody>
      </p:sp>
      <p:sp>
        <p:nvSpPr>
          <p:cNvPr id="13" name="BENCH_HERO_DETAIL"/>
          <p:cNvSpPr txBox="1"/>
          <p:nvPr/>
        </p:nvSpPr>
        <p:spPr>
          <a:xfrm>
            <a:off x="969264" y="3218688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누적 현금흐름이 양수되는 시점: 3년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4590288" y="1892442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4590288" y="1892442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4791455" y="2038746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누적 현금흐름이 양수되는 시점: 3년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4590288" y="3209178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4590288" y="3209178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4791455" y="3355482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파일럿 일반화 실패, 교육 지연, 센서 추가비 등 세 가지 주요 리스크가 존재하지만 완화책이 마련되어 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 권고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명확한 투자 조건과 권고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프로젝트의 재무적 건강과 리스크 관리가 적절하여 투자를 권장한다.</a:t>
            </a:r>
          </a:p>
        </p:txBody>
      </p:sp>
      <p:sp>
        <p:nvSpPr>
          <p:cNvPr id="10" name="BENCH_DECISION_CARD"/>
          <p:cNvSpPr/>
          <p:nvPr/>
        </p:nvSpPr>
        <p:spPr>
          <a:xfrm>
            <a:off x="7955279" y="1773936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ACCENT"/>
          <p:cNvSpPr/>
          <p:nvPr/>
        </p:nvSpPr>
        <p:spPr>
          <a:xfrm>
            <a:off x="7955279" y="1773936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ISION_LABEL"/>
          <p:cNvSpPr txBox="1"/>
          <p:nvPr/>
        </p:nvSpPr>
        <p:spPr>
          <a:xfrm>
            <a:off x="8229600" y="1956816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3" name="BENCH_DECISION"/>
          <p:cNvSpPr txBox="1"/>
          <p:nvPr/>
        </p:nvSpPr>
        <p:spPr>
          <a:xfrm>
            <a:off x="8229600" y="229514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투자 결정을 내리는 데 필요한 모든 요소를 충족하고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