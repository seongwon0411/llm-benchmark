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BENCH_BACKGROUND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BENCH_DECOR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F6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BENCH_TITLE"/>
          <p:cNvSpPr txBox="1"/>
          <p:nvPr/>
        </p:nvSpPr>
        <p:spPr>
          <a:xfrm>
            <a:off x="621792" y="292608"/>
            <a:ext cx="108356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500" b="1">
                <a:solidFill>
                  <a:srgbClr val="0B1F33"/>
                </a:solidFill>
                <a:latin typeface="Malgun Gothic"/>
              </a:rPr>
              <a:t>사고 타임라인</a:t>
            </a:r>
          </a:p>
        </p:txBody>
      </p:sp>
      <p:sp>
        <p:nvSpPr>
          <p:cNvPr id="5" name="BENCH_DECOR"/>
          <p:cNvSpPr/>
          <p:nvPr/>
        </p:nvSpPr>
        <p:spPr>
          <a:xfrm>
            <a:off x="621792" y="6446520"/>
            <a:ext cx="10927080" cy="18288"/>
          </a:xfrm>
          <a:prstGeom prst="rect">
            <a:avLst/>
          </a:prstGeom>
          <a:solidFill>
            <a:srgbClr val="D9E1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BENCH_PAGE"/>
          <p:cNvSpPr txBox="1"/>
          <p:nvPr/>
        </p:nvSpPr>
        <p:spPr>
          <a:xfrm>
            <a:off x="11228832" y="6492240"/>
            <a:ext cx="32004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667085"/>
                </a:solidFill>
                <a:latin typeface="Malgun Gothic"/>
              </a:rPr>
              <a:t>1</a:t>
            </a:r>
          </a:p>
        </p:txBody>
      </p:sp>
      <p:sp>
        <p:nvSpPr>
          <p:cNvPr id="7" name="BENCH_TAKEAWAY_BG"/>
          <p:cNvSpPr/>
          <p:nvPr/>
        </p:nvSpPr>
        <p:spPr>
          <a:xfrm>
            <a:off x="621792" y="1042415"/>
            <a:ext cx="10927080" cy="530352"/>
          </a:xfrm>
          <a:prstGeom prst="roundRect">
            <a:avLst/>
          </a:prstGeom>
          <a:solidFill>
            <a:srgbClr val="EA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BENCH_TAKEAWAY"/>
          <p:cNvSpPr txBox="1"/>
          <p:nvPr/>
        </p:nvSpPr>
        <p:spPr>
          <a:xfrm>
            <a:off x="841248" y="1124712"/>
            <a:ext cx="10469880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500" b="1">
                <a:solidFill>
                  <a:srgbClr val="0B1F33"/>
                </a:solidFill>
                <a:latin typeface="Malgun Gothic"/>
              </a:rPr>
              <a:t>사고 발생 시점과 주요 이벤트를 타임라인으로 표시</a:t>
            </a:r>
          </a:p>
        </p:txBody>
      </p:sp>
      <p:sp>
        <p:nvSpPr>
          <p:cNvPr id="9" name="BENCH_TIMELINE"/>
          <p:cNvSpPr/>
          <p:nvPr/>
        </p:nvSpPr>
        <p:spPr>
          <a:xfrm>
            <a:off x="713232" y="3701125"/>
            <a:ext cx="10698480" cy="36576"/>
          </a:xfrm>
          <a:prstGeom prst="rect">
            <a:avLst/>
          </a:prstGeom>
          <a:solidFill>
            <a:srgbClr val="D9E1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BENCH_TIMELINE"/>
          <p:cNvSpPr/>
          <p:nvPr/>
        </p:nvSpPr>
        <p:spPr>
          <a:xfrm>
            <a:off x="1590507" y="3627973"/>
            <a:ext cx="164592" cy="164592"/>
          </a:xfrm>
          <a:prstGeom prst="ellipse">
            <a:avLst/>
          </a:prstGeom>
          <a:solidFill>
            <a:srgbClr val="2F6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BENCH_TIMELINE_TIME"/>
          <p:cNvSpPr txBox="1"/>
          <p:nvPr/>
        </p:nvSpPr>
        <p:spPr>
          <a:xfrm>
            <a:off x="884407" y="1865376"/>
            <a:ext cx="175455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2F6BFF"/>
                </a:solidFill>
                <a:latin typeface="Malgun Gothic"/>
              </a:rPr>
              <a:t>14:02</a:t>
            </a:r>
          </a:p>
        </p:txBody>
      </p:sp>
      <p:sp>
        <p:nvSpPr>
          <p:cNvPr id="12" name="BENCH_TIMELINE_TEXT"/>
          <p:cNvSpPr txBox="1"/>
          <p:nvPr/>
        </p:nvSpPr>
        <p:spPr>
          <a:xfrm>
            <a:off x="884407" y="2432304"/>
            <a:ext cx="1754550" cy="3685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172033"/>
                </a:solidFill>
                <a:latin typeface="Malgun Gothic"/>
              </a:rPr>
              <a:t>고온 경고</a:t>
            </a:r>
          </a:p>
        </p:txBody>
      </p:sp>
      <p:sp>
        <p:nvSpPr>
          <p:cNvPr id="13" name="BENCH_TIMELINE"/>
          <p:cNvSpPr/>
          <p:nvPr/>
        </p:nvSpPr>
        <p:spPr>
          <a:xfrm>
            <a:off x="3730203" y="3627973"/>
            <a:ext cx="164592" cy="164592"/>
          </a:xfrm>
          <a:prstGeom prst="ellipse">
            <a:avLst/>
          </a:prstGeom>
          <a:solidFill>
            <a:srgbClr val="00A6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BENCH_TIMELINE_TIME"/>
          <p:cNvSpPr txBox="1"/>
          <p:nvPr/>
        </p:nvSpPr>
        <p:spPr>
          <a:xfrm>
            <a:off x="3024103" y="1865376"/>
            <a:ext cx="175455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2F6BFF"/>
                </a:solidFill>
                <a:latin typeface="Malgun Gothic"/>
              </a:rPr>
              <a:t>14:04</a:t>
            </a:r>
          </a:p>
        </p:txBody>
      </p:sp>
      <p:sp>
        <p:nvSpPr>
          <p:cNvPr id="15" name="BENCH_TIMELINE_TEXT"/>
          <p:cNvSpPr txBox="1"/>
          <p:nvPr/>
        </p:nvSpPr>
        <p:spPr>
          <a:xfrm>
            <a:off x="3024103" y="2432304"/>
            <a:ext cx="1754550" cy="3685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172033"/>
                </a:solidFill>
                <a:latin typeface="Malgun Gothic"/>
              </a:rPr>
              <a:t>91.1C</a:t>
            </a:r>
          </a:p>
        </p:txBody>
      </p:sp>
      <p:sp>
        <p:nvSpPr>
          <p:cNvPr id="16" name="BENCH_TIMELINE"/>
          <p:cNvSpPr/>
          <p:nvPr/>
        </p:nvSpPr>
        <p:spPr>
          <a:xfrm>
            <a:off x="5869899" y="3627973"/>
            <a:ext cx="164592" cy="164592"/>
          </a:xfrm>
          <a:prstGeom prst="ellipse">
            <a:avLst/>
          </a:prstGeom>
          <a:solidFill>
            <a:srgbClr val="7C5C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BENCH_TIMELINE_TIME"/>
          <p:cNvSpPr txBox="1"/>
          <p:nvPr/>
        </p:nvSpPr>
        <p:spPr>
          <a:xfrm>
            <a:off x="5163799" y="1865376"/>
            <a:ext cx="175455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2F6BFF"/>
                </a:solidFill>
                <a:latin typeface="Malgun Gothic"/>
              </a:rPr>
              <a:t>14:07</a:t>
            </a:r>
          </a:p>
        </p:txBody>
      </p:sp>
      <p:sp>
        <p:nvSpPr>
          <p:cNvPr id="18" name="BENCH_TIMELINE_TEXT"/>
          <p:cNvSpPr txBox="1"/>
          <p:nvPr/>
        </p:nvSpPr>
        <p:spPr>
          <a:xfrm>
            <a:off x="5163799" y="2432304"/>
            <a:ext cx="1754550" cy="3685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172033"/>
                </a:solidFill>
                <a:latin typeface="Malgun Gothic"/>
              </a:rPr>
              <a:t>보호정지</a:t>
            </a:r>
          </a:p>
        </p:txBody>
      </p:sp>
      <p:sp>
        <p:nvSpPr>
          <p:cNvPr id="19" name="BENCH_TIMELINE"/>
          <p:cNvSpPr/>
          <p:nvPr/>
        </p:nvSpPr>
        <p:spPr>
          <a:xfrm>
            <a:off x="8009595" y="3627973"/>
            <a:ext cx="164592" cy="164592"/>
          </a:xfrm>
          <a:prstGeom prst="ellipse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BENCH_TIMELINE_TIME"/>
          <p:cNvSpPr txBox="1"/>
          <p:nvPr/>
        </p:nvSpPr>
        <p:spPr>
          <a:xfrm>
            <a:off x="7303495" y="1865376"/>
            <a:ext cx="175455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2F6BFF"/>
                </a:solidFill>
                <a:latin typeface="Malgun Gothic"/>
              </a:rPr>
              <a:t>14:16</a:t>
            </a:r>
          </a:p>
        </p:txBody>
      </p:sp>
      <p:sp>
        <p:nvSpPr>
          <p:cNvPr id="21" name="BENCH_TIMELINE_TEXT"/>
          <p:cNvSpPr txBox="1"/>
          <p:nvPr/>
        </p:nvSpPr>
        <p:spPr>
          <a:xfrm>
            <a:off x="7303495" y="2432304"/>
            <a:ext cx="1754550" cy="3685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172033"/>
                </a:solidFill>
                <a:latin typeface="Malgun Gothic"/>
              </a:rPr>
              <a:t>냉각 흡입구 분진 확인</a:t>
            </a:r>
          </a:p>
        </p:txBody>
      </p:sp>
      <p:sp>
        <p:nvSpPr>
          <p:cNvPr id="22" name="BENCH_TIMELINE"/>
          <p:cNvSpPr/>
          <p:nvPr/>
        </p:nvSpPr>
        <p:spPr>
          <a:xfrm>
            <a:off x="10149291" y="3627973"/>
            <a:ext cx="164592" cy="164592"/>
          </a:xfrm>
          <a:prstGeom prst="ellipse">
            <a:avLst/>
          </a:prstGeom>
          <a:solidFill>
            <a:srgbClr val="C43D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BENCH_TIMELINE_TIME"/>
          <p:cNvSpPr txBox="1"/>
          <p:nvPr/>
        </p:nvSpPr>
        <p:spPr>
          <a:xfrm>
            <a:off x="9443191" y="1865376"/>
            <a:ext cx="175455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2F6BFF"/>
                </a:solidFill>
                <a:latin typeface="Malgun Gothic"/>
              </a:rPr>
              <a:t>14:31</a:t>
            </a:r>
          </a:p>
        </p:txBody>
      </p:sp>
      <p:sp>
        <p:nvSpPr>
          <p:cNvPr id="24" name="BENCH_TIMELINE_TEXT"/>
          <p:cNvSpPr txBox="1"/>
          <p:nvPr/>
        </p:nvSpPr>
        <p:spPr>
          <a:xfrm>
            <a:off x="9443191" y="2432304"/>
            <a:ext cx="1754550" cy="3685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172033"/>
                </a:solidFill>
                <a:latin typeface="Malgun Gothic"/>
              </a:rPr>
              <a:t>분진 제거 후 재가동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BENCH_BACKGROUND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BENCH_DECOR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F6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BENCH_TITLE"/>
          <p:cNvSpPr txBox="1"/>
          <p:nvPr/>
        </p:nvSpPr>
        <p:spPr>
          <a:xfrm>
            <a:off x="621792" y="292608"/>
            <a:ext cx="108356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500" b="1">
                <a:solidFill>
                  <a:srgbClr val="0B1F33"/>
                </a:solidFill>
                <a:latin typeface="Malgun Gothic"/>
              </a:rPr>
              <a:t>직접 트리거</a:t>
            </a:r>
          </a:p>
        </p:txBody>
      </p:sp>
      <p:sp>
        <p:nvSpPr>
          <p:cNvPr id="5" name="BENCH_DECOR"/>
          <p:cNvSpPr/>
          <p:nvPr/>
        </p:nvSpPr>
        <p:spPr>
          <a:xfrm>
            <a:off x="621792" y="6446520"/>
            <a:ext cx="10927080" cy="18288"/>
          </a:xfrm>
          <a:prstGeom prst="rect">
            <a:avLst/>
          </a:prstGeom>
          <a:solidFill>
            <a:srgbClr val="D9E1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BENCH_PAGE"/>
          <p:cNvSpPr txBox="1"/>
          <p:nvPr/>
        </p:nvSpPr>
        <p:spPr>
          <a:xfrm>
            <a:off x="11228832" y="6492240"/>
            <a:ext cx="32004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667085"/>
                </a:solidFill>
                <a:latin typeface="Malgun Gothic"/>
              </a:rPr>
              <a:t>2</a:t>
            </a:r>
          </a:p>
        </p:txBody>
      </p:sp>
      <p:sp>
        <p:nvSpPr>
          <p:cNvPr id="7" name="BENCH_TAKEAWAY_BG"/>
          <p:cNvSpPr/>
          <p:nvPr/>
        </p:nvSpPr>
        <p:spPr>
          <a:xfrm>
            <a:off x="621792" y="1042415"/>
            <a:ext cx="10927080" cy="530352"/>
          </a:xfrm>
          <a:prstGeom prst="roundRect">
            <a:avLst/>
          </a:prstGeom>
          <a:solidFill>
            <a:srgbClr val="EA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BENCH_TAKEAWAY"/>
          <p:cNvSpPr txBox="1"/>
          <p:nvPr/>
        </p:nvSpPr>
        <p:spPr>
          <a:xfrm>
            <a:off x="841248" y="1124712"/>
            <a:ext cx="10469880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500" b="1">
                <a:solidFill>
                  <a:srgbClr val="0B1F33"/>
                </a:solidFill>
                <a:latin typeface="Malgun Gothic"/>
              </a:rPr>
              <a:t>사고 발생 직전의 주요 트리거 요인</a:t>
            </a:r>
          </a:p>
        </p:txBody>
      </p:sp>
      <p:sp>
        <p:nvSpPr>
          <p:cNvPr id="9" name="BENCH_INSIGHT_CARD"/>
          <p:cNvSpPr/>
          <p:nvPr/>
        </p:nvSpPr>
        <p:spPr>
          <a:xfrm>
            <a:off x="658368" y="1744675"/>
            <a:ext cx="10863072" cy="1170432"/>
          </a:xfrm>
          <a:prstGeom prst="roundRect">
            <a:avLst/>
          </a:prstGeom>
          <a:solidFill>
            <a:srgbClr val="FAFBFC"/>
          </a:solidFill>
          <a:ln w="12700">
            <a:solidFill>
              <a:srgbClr val="D9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BENCH_DECOR"/>
          <p:cNvSpPr/>
          <p:nvPr/>
        </p:nvSpPr>
        <p:spPr>
          <a:xfrm>
            <a:off x="658368" y="1744675"/>
            <a:ext cx="54864" cy="1170432"/>
          </a:xfrm>
          <a:prstGeom prst="rect">
            <a:avLst/>
          </a:prstGeom>
          <a:solidFill>
            <a:srgbClr val="2F6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BENCH_BODY"/>
          <p:cNvSpPr txBox="1"/>
          <p:nvPr/>
        </p:nvSpPr>
        <p:spPr>
          <a:xfrm>
            <a:off x="859536" y="1890979"/>
            <a:ext cx="10515600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500" b="0">
                <a:solidFill>
                  <a:srgbClr val="172033"/>
                </a:solidFill>
                <a:latin typeface="Malgun Gothic"/>
              </a:rPr>
              <a:t>14:02 고온 경고</a:t>
            </a:r>
          </a:p>
        </p:txBody>
      </p:sp>
      <p:sp>
        <p:nvSpPr>
          <p:cNvPr id="12" name="BENCH_INSIGHT_CARD"/>
          <p:cNvSpPr/>
          <p:nvPr/>
        </p:nvSpPr>
        <p:spPr>
          <a:xfrm>
            <a:off x="658368" y="3061411"/>
            <a:ext cx="10863072" cy="1170432"/>
          </a:xfrm>
          <a:prstGeom prst="roundRect">
            <a:avLst/>
          </a:prstGeom>
          <a:solidFill>
            <a:srgbClr val="FAFBFC"/>
          </a:solidFill>
          <a:ln w="12700">
            <a:solidFill>
              <a:srgbClr val="D9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BENCH_DECOR"/>
          <p:cNvSpPr/>
          <p:nvPr/>
        </p:nvSpPr>
        <p:spPr>
          <a:xfrm>
            <a:off x="658368" y="3061411"/>
            <a:ext cx="54864" cy="1170432"/>
          </a:xfrm>
          <a:prstGeom prst="rect">
            <a:avLst/>
          </a:prstGeom>
          <a:solidFill>
            <a:srgbClr val="00A6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BENCH_BODY"/>
          <p:cNvSpPr txBox="1"/>
          <p:nvPr/>
        </p:nvSpPr>
        <p:spPr>
          <a:xfrm>
            <a:off x="859536" y="3207715"/>
            <a:ext cx="10515600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500" b="0">
                <a:solidFill>
                  <a:srgbClr val="172033"/>
                </a:solidFill>
                <a:latin typeface="Malgun Gothic"/>
              </a:rPr>
              <a:t>14:07 보호정지</a:t>
            </a:r>
          </a:p>
        </p:txBody>
      </p:sp>
      <p:sp>
        <p:nvSpPr>
          <p:cNvPr id="15" name="BENCH_INSIGHT_CARD"/>
          <p:cNvSpPr/>
          <p:nvPr/>
        </p:nvSpPr>
        <p:spPr>
          <a:xfrm>
            <a:off x="658368" y="4378147"/>
            <a:ext cx="10863072" cy="1170432"/>
          </a:xfrm>
          <a:prstGeom prst="roundRect">
            <a:avLst/>
          </a:prstGeom>
          <a:solidFill>
            <a:srgbClr val="FAFBFC"/>
          </a:solidFill>
          <a:ln w="12700">
            <a:solidFill>
              <a:srgbClr val="D9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BENCH_DECOR"/>
          <p:cNvSpPr/>
          <p:nvPr/>
        </p:nvSpPr>
        <p:spPr>
          <a:xfrm>
            <a:off x="658368" y="4378147"/>
            <a:ext cx="54864" cy="1170432"/>
          </a:xfrm>
          <a:prstGeom prst="rect">
            <a:avLst/>
          </a:prstGeom>
          <a:solidFill>
            <a:srgbClr val="7C5C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BENCH_BODY"/>
          <p:cNvSpPr txBox="1"/>
          <p:nvPr/>
        </p:nvSpPr>
        <p:spPr>
          <a:xfrm>
            <a:off x="859536" y="4524451"/>
            <a:ext cx="10515600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500" b="0">
                <a:solidFill>
                  <a:srgbClr val="172033"/>
                </a:solidFill>
                <a:latin typeface="Malgun Gothic"/>
              </a:rPr>
              <a:t>14:16 냉각 흡입구 분진 확인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BENCH_BACKGROUND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BENCH_DECOR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F6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BENCH_TITLE"/>
          <p:cNvSpPr txBox="1"/>
          <p:nvPr/>
        </p:nvSpPr>
        <p:spPr>
          <a:xfrm>
            <a:off x="621792" y="292608"/>
            <a:ext cx="108356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500" b="1">
                <a:solidFill>
                  <a:srgbClr val="0B1F33"/>
                </a:solidFill>
                <a:latin typeface="Malgun Gothic"/>
              </a:rPr>
              <a:t>근본원인의 불확실성</a:t>
            </a:r>
          </a:p>
        </p:txBody>
      </p:sp>
      <p:sp>
        <p:nvSpPr>
          <p:cNvPr id="5" name="BENCH_DECOR"/>
          <p:cNvSpPr/>
          <p:nvPr/>
        </p:nvSpPr>
        <p:spPr>
          <a:xfrm>
            <a:off x="621792" y="6446520"/>
            <a:ext cx="10927080" cy="18288"/>
          </a:xfrm>
          <a:prstGeom prst="rect">
            <a:avLst/>
          </a:prstGeom>
          <a:solidFill>
            <a:srgbClr val="D9E1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BENCH_PAGE"/>
          <p:cNvSpPr txBox="1"/>
          <p:nvPr/>
        </p:nvSpPr>
        <p:spPr>
          <a:xfrm>
            <a:off x="11228832" y="6492240"/>
            <a:ext cx="32004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667085"/>
                </a:solidFill>
                <a:latin typeface="Malgun Gothic"/>
              </a:rPr>
              <a:t>3</a:t>
            </a:r>
          </a:p>
        </p:txBody>
      </p:sp>
      <p:sp>
        <p:nvSpPr>
          <p:cNvPr id="7" name="BENCH_TAKEAWAY_BG"/>
          <p:cNvSpPr/>
          <p:nvPr/>
        </p:nvSpPr>
        <p:spPr>
          <a:xfrm>
            <a:off x="621792" y="1042415"/>
            <a:ext cx="10927080" cy="530352"/>
          </a:xfrm>
          <a:prstGeom prst="roundRect">
            <a:avLst/>
          </a:prstGeom>
          <a:solidFill>
            <a:srgbClr val="EA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BENCH_TAKEAWAY"/>
          <p:cNvSpPr txBox="1"/>
          <p:nvPr/>
        </p:nvSpPr>
        <p:spPr>
          <a:xfrm>
            <a:off x="841248" y="1124712"/>
            <a:ext cx="10469880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500" b="1">
                <a:solidFill>
                  <a:srgbClr val="0B1F33"/>
                </a:solidFill>
                <a:latin typeface="Malgun Gothic"/>
              </a:rPr>
              <a:t>사고 원인에 대한 불확실성을 명시적으로 표현</a:t>
            </a:r>
          </a:p>
        </p:txBody>
      </p:sp>
      <p:sp>
        <p:nvSpPr>
          <p:cNvPr id="9" name="BENCH_INSIGHT_CARD"/>
          <p:cNvSpPr/>
          <p:nvPr/>
        </p:nvSpPr>
        <p:spPr>
          <a:xfrm>
            <a:off x="658368" y="1823679"/>
            <a:ext cx="10863072" cy="1170432"/>
          </a:xfrm>
          <a:prstGeom prst="roundRect">
            <a:avLst/>
          </a:prstGeom>
          <a:solidFill>
            <a:srgbClr val="FAFBFC"/>
          </a:solidFill>
          <a:ln w="12700">
            <a:solidFill>
              <a:srgbClr val="D9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BENCH_DECOR"/>
          <p:cNvSpPr/>
          <p:nvPr/>
        </p:nvSpPr>
        <p:spPr>
          <a:xfrm>
            <a:off x="658368" y="1823679"/>
            <a:ext cx="54864" cy="1170432"/>
          </a:xfrm>
          <a:prstGeom prst="rect">
            <a:avLst/>
          </a:prstGeom>
          <a:solidFill>
            <a:srgbClr val="2F6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BENCH_BODY"/>
          <p:cNvSpPr txBox="1"/>
          <p:nvPr/>
        </p:nvSpPr>
        <p:spPr>
          <a:xfrm>
            <a:off x="859536" y="1969983"/>
            <a:ext cx="10515600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500" b="0">
                <a:solidFill>
                  <a:srgbClr val="172033"/>
                </a:solidFill>
                <a:latin typeface="Malgun Gothic"/>
              </a:rPr>
              <a:t>분진이 근본원인이 확정되지 않음</a:t>
            </a:r>
          </a:p>
        </p:txBody>
      </p:sp>
      <p:sp>
        <p:nvSpPr>
          <p:cNvPr id="12" name="BENCH_INSIGHT_CARD"/>
          <p:cNvSpPr/>
          <p:nvPr/>
        </p:nvSpPr>
        <p:spPr>
          <a:xfrm>
            <a:off x="658368" y="3140415"/>
            <a:ext cx="10863072" cy="1170432"/>
          </a:xfrm>
          <a:prstGeom prst="roundRect">
            <a:avLst/>
          </a:prstGeom>
          <a:solidFill>
            <a:srgbClr val="FAFBFC"/>
          </a:solidFill>
          <a:ln w="12700">
            <a:solidFill>
              <a:srgbClr val="D9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BENCH_DECOR"/>
          <p:cNvSpPr/>
          <p:nvPr/>
        </p:nvSpPr>
        <p:spPr>
          <a:xfrm>
            <a:off x="658368" y="3140415"/>
            <a:ext cx="54864" cy="1170432"/>
          </a:xfrm>
          <a:prstGeom prst="rect">
            <a:avLst/>
          </a:prstGeom>
          <a:solidFill>
            <a:srgbClr val="00A6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BENCH_BODY"/>
          <p:cNvSpPr txBox="1"/>
          <p:nvPr/>
        </p:nvSpPr>
        <p:spPr>
          <a:xfrm>
            <a:off x="859536" y="3286719"/>
            <a:ext cx="10515600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500" b="0">
                <a:solidFill>
                  <a:srgbClr val="172033"/>
                </a:solidFill>
                <a:latin typeface="Malgun Gothic"/>
              </a:rPr>
              <a:t>진동 데이터 누락으로 분석 제한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BENCH_BACKGROUND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BENCH_DECOR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F6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BENCH_TITLE"/>
          <p:cNvSpPr txBox="1"/>
          <p:nvPr/>
        </p:nvSpPr>
        <p:spPr>
          <a:xfrm>
            <a:off x="621792" y="292608"/>
            <a:ext cx="108356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500" b="1">
                <a:solidFill>
                  <a:srgbClr val="0B1F33"/>
                </a:solidFill>
                <a:latin typeface="Malgun Gothic"/>
              </a:rPr>
              <a:t>조치 계획</a:t>
            </a:r>
          </a:p>
        </p:txBody>
      </p:sp>
      <p:sp>
        <p:nvSpPr>
          <p:cNvPr id="5" name="BENCH_DECOR"/>
          <p:cNvSpPr/>
          <p:nvPr/>
        </p:nvSpPr>
        <p:spPr>
          <a:xfrm>
            <a:off x="621792" y="6446520"/>
            <a:ext cx="10927080" cy="18288"/>
          </a:xfrm>
          <a:prstGeom prst="rect">
            <a:avLst/>
          </a:prstGeom>
          <a:solidFill>
            <a:srgbClr val="D9E1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BENCH_PAGE"/>
          <p:cNvSpPr txBox="1"/>
          <p:nvPr/>
        </p:nvSpPr>
        <p:spPr>
          <a:xfrm>
            <a:off x="11228832" y="6492240"/>
            <a:ext cx="32004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667085"/>
                </a:solidFill>
                <a:latin typeface="Malgun Gothic"/>
              </a:rPr>
              <a:t>4</a:t>
            </a:r>
          </a:p>
        </p:txBody>
      </p:sp>
      <p:sp>
        <p:nvSpPr>
          <p:cNvPr id="7" name="BENCH_TAKEAWAY_BG"/>
          <p:cNvSpPr/>
          <p:nvPr/>
        </p:nvSpPr>
        <p:spPr>
          <a:xfrm>
            <a:off x="621792" y="1042415"/>
            <a:ext cx="10927080" cy="530352"/>
          </a:xfrm>
          <a:prstGeom prst="roundRect">
            <a:avLst/>
          </a:prstGeom>
          <a:solidFill>
            <a:srgbClr val="EA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BENCH_TAKEAWAY"/>
          <p:cNvSpPr txBox="1"/>
          <p:nvPr/>
        </p:nvSpPr>
        <p:spPr>
          <a:xfrm>
            <a:off x="841248" y="1124712"/>
            <a:ext cx="10469880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500" b="1">
                <a:solidFill>
                  <a:srgbClr val="0B1F33"/>
                </a:solidFill>
                <a:latin typeface="Malgun Gothic"/>
              </a:rPr>
              <a:t>실제 값으로 채워진 조치 계획 표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BENCH_BACKGROUND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BENCH_DECOR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F6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BENCH_TITLE"/>
          <p:cNvSpPr txBox="1"/>
          <p:nvPr/>
        </p:nvSpPr>
        <p:spPr>
          <a:xfrm>
            <a:off x="621792" y="292608"/>
            <a:ext cx="108356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500" b="1">
                <a:solidFill>
                  <a:srgbClr val="0B1F33"/>
                </a:solidFill>
                <a:latin typeface="Malgun Gothic"/>
              </a:rPr>
              <a:t>결론</a:t>
            </a:r>
          </a:p>
        </p:txBody>
      </p:sp>
      <p:sp>
        <p:nvSpPr>
          <p:cNvPr id="5" name="BENCH_DECOR"/>
          <p:cNvSpPr/>
          <p:nvPr/>
        </p:nvSpPr>
        <p:spPr>
          <a:xfrm>
            <a:off x="621792" y="6446520"/>
            <a:ext cx="10927080" cy="18288"/>
          </a:xfrm>
          <a:prstGeom prst="rect">
            <a:avLst/>
          </a:prstGeom>
          <a:solidFill>
            <a:srgbClr val="D9E1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BENCH_PAGE"/>
          <p:cNvSpPr txBox="1"/>
          <p:nvPr/>
        </p:nvSpPr>
        <p:spPr>
          <a:xfrm>
            <a:off x="11228832" y="6492240"/>
            <a:ext cx="32004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667085"/>
                </a:solidFill>
                <a:latin typeface="Malgun Gothic"/>
              </a:rPr>
              <a:t>5</a:t>
            </a:r>
          </a:p>
        </p:txBody>
      </p:sp>
      <p:sp>
        <p:nvSpPr>
          <p:cNvPr id="7" name="BENCH_TAKEAWAY_BG"/>
          <p:cNvSpPr/>
          <p:nvPr/>
        </p:nvSpPr>
        <p:spPr>
          <a:xfrm>
            <a:off x="621792" y="1042415"/>
            <a:ext cx="10927080" cy="530352"/>
          </a:xfrm>
          <a:prstGeom prst="roundRect">
            <a:avLst/>
          </a:prstGeom>
          <a:solidFill>
            <a:srgbClr val="EA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BENCH_TAKEAWAY"/>
          <p:cNvSpPr txBox="1"/>
          <p:nvPr/>
        </p:nvSpPr>
        <p:spPr>
          <a:xfrm>
            <a:off x="841248" y="1124712"/>
            <a:ext cx="10469880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500" b="1">
                <a:solidFill>
                  <a:srgbClr val="0B1F33"/>
                </a:solidFill>
                <a:latin typeface="Malgun Gothic"/>
              </a:rPr>
              <a:t>사고 리뷰의 결론과 앞으로의 방향성</a:t>
            </a:r>
          </a:p>
        </p:txBody>
      </p:sp>
      <p:sp>
        <p:nvSpPr>
          <p:cNvPr id="9" name="BENCH_INSIGHT_CARD"/>
          <p:cNvSpPr/>
          <p:nvPr/>
        </p:nvSpPr>
        <p:spPr>
          <a:xfrm>
            <a:off x="658368" y="1823679"/>
            <a:ext cx="10863072" cy="1170432"/>
          </a:xfrm>
          <a:prstGeom prst="roundRect">
            <a:avLst/>
          </a:prstGeom>
          <a:solidFill>
            <a:srgbClr val="FAFBFC"/>
          </a:solidFill>
          <a:ln w="12700">
            <a:solidFill>
              <a:srgbClr val="D9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BENCH_DECOR"/>
          <p:cNvSpPr/>
          <p:nvPr/>
        </p:nvSpPr>
        <p:spPr>
          <a:xfrm>
            <a:off x="658368" y="1823679"/>
            <a:ext cx="54864" cy="1170432"/>
          </a:xfrm>
          <a:prstGeom prst="rect">
            <a:avLst/>
          </a:prstGeom>
          <a:solidFill>
            <a:srgbClr val="2F6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BENCH_BODY"/>
          <p:cNvSpPr txBox="1"/>
          <p:nvPr/>
        </p:nvSpPr>
        <p:spPr>
          <a:xfrm>
            <a:off x="859536" y="1969983"/>
            <a:ext cx="10515600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500" b="0">
                <a:solidFill>
                  <a:srgbClr val="172033"/>
                </a:solidFill>
                <a:latin typeface="Malgun Gothic"/>
              </a:rPr>
              <a:t>사고 원인에 대한 불확실성을 인정</a:t>
            </a:r>
          </a:p>
        </p:txBody>
      </p:sp>
      <p:sp>
        <p:nvSpPr>
          <p:cNvPr id="12" name="BENCH_INSIGHT_CARD"/>
          <p:cNvSpPr/>
          <p:nvPr/>
        </p:nvSpPr>
        <p:spPr>
          <a:xfrm>
            <a:off x="658368" y="3140415"/>
            <a:ext cx="10863072" cy="1170432"/>
          </a:xfrm>
          <a:prstGeom prst="roundRect">
            <a:avLst/>
          </a:prstGeom>
          <a:solidFill>
            <a:srgbClr val="FAFBFC"/>
          </a:solidFill>
          <a:ln w="12700">
            <a:solidFill>
              <a:srgbClr val="D9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BENCH_DECOR"/>
          <p:cNvSpPr/>
          <p:nvPr/>
        </p:nvSpPr>
        <p:spPr>
          <a:xfrm>
            <a:off x="658368" y="3140415"/>
            <a:ext cx="54864" cy="1170432"/>
          </a:xfrm>
          <a:prstGeom prst="rect">
            <a:avLst/>
          </a:prstGeom>
          <a:solidFill>
            <a:srgbClr val="00A6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BENCH_BODY"/>
          <p:cNvSpPr txBox="1"/>
          <p:nvPr/>
        </p:nvSpPr>
        <p:spPr>
          <a:xfrm>
            <a:off x="859536" y="3286719"/>
            <a:ext cx="10515600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500" b="0">
                <a:solidFill>
                  <a:srgbClr val="172033"/>
                </a:solidFill>
                <a:latin typeface="Malgun Gothic"/>
              </a:rPr>
              <a:t>추가 데이터 수집과 분석 필요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BENCH_BACKGROUND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BENCH_DECOR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F6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BENCH_TITLE"/>
          <p:cNvSpPr txBox="1"/>
          <p:nvPr/>
        </p:nvSpPr>
        <p:spPr>
          <a:xfrm>
            <a:off x="621792" y="292608"/>
            <a:ext cx="108356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500" b="1">
                <a:solidFill>
                  <a:srgbClr val="0B1F33"/>
                </a:solidFill>
                <a:latin typeface="Malgun Gothic"/>
              </a:rPr>
              <a:t>판단 및 조치</a:t>
            </a:r>
          </a:p>
        </p:txBody>
      </p:sp>
      <p:sp>
        <p:nvSpPr>
          <p:cNvPr id="5" name="BENCH_DECOR"/>
          <p:cNvSpPr/>
          <p:nvPr/>
        </p:nvSpPr>
        <p:spPr>
          <a:xfrm>
            <a:off x="621792" y="6446520"/>
            <a:ext cx="10927080" cy="18288"/>
          </a:xfrm>
          <a:prstGeom prst="rect">
            <a:avLst/>
          </a:prstGeom>
          <a:solidFill>
            <a:srgbClr val="D9E1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BENCH_PAGE"/>
          <p:cNvSpPr txBox="1"/>
          <p:nvPr/>
        </p:nvSpPr>
        <p:spPr>
          <a:xfrm>
            <a:off x="11228832" y="6492240"/>
            <a:ext cx="32004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667085"/>
                </a:solidFill>
                <a:latin typeface="Malgun Gothic"/>
              </a:rPr>
              <a:t>6</a:t>
            </a:r>
          </a:p>
        </p:txBody>
      </p:sp>
      <p:sp>
        <p:nvSpPr>
          <p:cNvPr id="7" name="BENCH_TAKEAWAY_BG"/>
          <p:cNvSpPr/>
          <p:nvPr/>
        </p:nvSpPr>
        <p:spPr>
          <a:xfrm>
            <a:off x="621792" y="1042415"/>
            <a:ext cx="10927080" cy="530352"/>
          </a:xfrm>
          <a:prstGeom prst="roundRect">
            <a:avLst/>
          </a:prstGeom>
          <a:solidFill>
            <a:srgbClr val="EA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BENCH_TAKEAWAY"/>
          <p:cNvSpPr txBox="1"/>
          <p:nvPr/>
        </p:nvSpPr>
        <p:spPr>
          <a:xfrm>
            <a:off x="841248" y="1124712"/>
            <a:ext cx="10469880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500" b="1">
                <a:solidFill>
                  <a:srgbClr val="0B1F33"/>
                </a:solidFill>
                <a:latin typeface="Malgun Gothic"/>
              </a:rPr>
              <a:t>사고 후의 즉각적인 조치 및 장기 방안</a:t>
            </a:r>
          </a:p>
        </p:txBody>
      </p:sp>
      <p:sp>
        <p:nvSpPr>
          <p:cNvPr id="9" name="BENCH_DECISION_CARD"/>
          <p:cNvSpPr/>
          <p:nvPr/>
        </p:nvSpPr>
        <p:spPr>
          <a:xfrm>
            <a:off x="7955279" y="1700784"/>
            <a:ext cx="3566160" cy="2084831"/>
          </a:xfrm>
          <a:prstGeom prst="roundRect">
            <a:avLst/>
          </a:prstGeom>
          <a:solidFill>
            <a:srgbClr val="FAFBFC"/>
          </a:solidFill>
          <a:ln w="12700">
            <a:solidFill>
              <a:srgbClr val="D9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BENCH_DECISION_ACCENT"/>
          <p:cNvSpPr/>
          <p:nvPr/>
        </p:nvSpPr>
        <p:spPr>
          <a:xfrm>
            <a:off x="7955279" y="1700784"/>
            <a:ext cx="73152" cy="2084831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BENCH_DECISION_LABEL"/>
          <p:cNvSpPr txBox="1"/>
          <p:nvPr/>
        </p:nvSpPr>
        <p:spPr>
          <a:xfrm>
            <a:off x="8229600" y="1883664"/>
            <a:ext cx="28803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1">
                <a:solidFill>
                  <a:srgbClr val="D97706"/>
                </a:solidFill>
                <a:latin typeface="Malgun Gothic"/>
              </a:rPr>
              <a:t>DECISION</a:t>
            </a:r>
          </a:p>
        </p:txBody>
      </p:sp>
      <p:sp>
        <p:nvSpPr>
          <p:cNvPr id="12" name="BENCH_DECISION"/>
          <p:cNvSpPr txBox="1"/>
          <p:nvPr/>
        </p:nvSpPr>
        <p:spPr>
          <a:xfrm>
            <a:off x="8229600" y="2221991"/>
            <a:ext cx="2880360" cy="12618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700" b="1">
                <a:solidFill>
                  <a:srgbClr val="0B1F33"/>
                </a:solidFill>
                <a:latin typeface="Malgun Gothic"/>
              </a:rPr>
              <a:t>즉시 흡입구 청소와 진동센서 수집을 강화하고, 과열 원인에 대한 추가 분석이 필요함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