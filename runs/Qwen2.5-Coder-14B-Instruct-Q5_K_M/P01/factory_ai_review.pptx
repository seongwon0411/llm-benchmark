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rPr sz="1300" b="1">
                <a:solidFill>
                  <a:srgbClr val="0B1F33"/>
                </a:solidFill>
                <a:latin typeface="Malgun Gothic"/>
              </a:rPr>
              <a:t>Defect Rate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 Rate</c:v>
                </c:pt>
              </c:strCache>
            </c:strRef>
          </c:tx>
          <c:spPr>
            <a:solidFill>
              <a:srgbClr val="2F6BFF"/>
            </a:solidFill>
            <a:ln w="28575">
              <a:solidFill>
                <a:srgbClr val="2F6BFF"/>
              </a:solidFill>
            </a:ln>
          </c:spPr>
          <c:marker>
            <c:symbol val="circle"/>
            <c:size val="6"/>
          </c:marke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0.052</c:v>
                </c:pt>
                <c:pt idx="1">
                  <c:v>0.048</c:v>
                </c:pt>
                <c:pt idx="2">
                  <c:v>0.031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rPr sz="1300" b="1">
                <a:solidFill>
                  <a:srgbClr val="0B1F33"/>
                </a:solidFill>
                <a:latin typeface="Malgun Gothic"/>
              </a:rPr>
              <a:t>OEE Trend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OEE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dPt>
            <c:idx val="0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1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2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0.71</c:v>
                </c:pt>
                <c:pt idx="1">
                  <c:v>0.74</c:v>
                </c:pt>
                <c:pt idx="2">
                  <c:v>0.81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공장 AI 성과 검토</a:t>
            </a:r>
          </a:p>
        </p:txBody>
      </p:sp>
      <p:sp>
        <p:nvSpPr>
          <p:cNvPr id="6" name="BENCH_SUBTITLE"/>
          <p:cNvSpPr txBox="1"/>
          <p:nvPr/>
        </p:nvSpPr>
        <p:spPr>
          <a:xfrm>
            <a:off x="1143000" y="272491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6E0EA"/>
                </a:solidFill>
                <a:latin typeface="Malgun Gothic"/>
              </a:rPr>
              <a:t>2024-2026 연도별 KPI 분석</a:t>
            </a:r>
          </a:p>
        </p:txBody>
      </p:sp>
      <p:sp>
        <p:nvSpPr>
          <p:cNvPr id="7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8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전체 공장 생산량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전체 공장 생산량이 연년 증가하고 있다.</a:t>
            </a:r>
          </a:p>
        </p:txBody>
      </p:sp>
      <p:sp>
        <p:nvSpPr>
          <p:cNvPr id="9" name="BENCH_KPI_CARD"/>
          <p:cNvSpPr/>
          <p:nvPr/>
        </p:nvSpPr>
        <p:spPr>
          <a:xfrm>
            <a:off x="658368" y="1700784"/>
            <a:ext cx="3511296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700784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KPI_LABEL"/>
          <p:cNvSpPr txBox="1"/>
          <p:nvPr/>
        </p:nvSpPr>
        <p:spPr>
          <a:xfrm>
            <a:off x="859536" y="1847088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2024</a:t>
            </a:r>
          </a:p>
        </p:txBody>
      </p:sp>
      <p:sp>
        <p:nvSpPr>
          <p:cNvPr id="12" name="BENCH_KPI_VALUE"/>
          <p:cNvSpPr txBox="1"/>
          <p:nvPr/>
        </p:nvSpPr>
        <p:spPr>
          <a:xfrm>
            <a:off x="859536" y="2093976"/>
            <a:ext cx="31821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120,000 units</a:t>
            </a:r>
          </a:p>
        </p:txBody>
      </p:sp>
      <p:sp>
        <p:nvSpPr>
          <p:cNvPr id="13" name="BENCH_KPI_CARD"/>
          <p:cNvSpPr/>
          <p:nvPr/>
        </p:nvSpPr>
        <p:spPr>
          <a:xfrm>
            <a:off x="4334256" y="1700784"/>
            <a:ext cx="3511296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DECOR"/>
          <p:cNvSpPr/>
          <p:nvPr/>
        </p:nvSpPr>
        <p:spPr>
          <a:xfrm>
            <a:off x="4334256" y="1700784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KPI_LABEL"/>
          <p:cNvSpPr txBox="1"/>
          <p:nvPr/>
        </p:nvSpPr>
        <p:spPr>
          <a:xfrm>
            <a:off x="4535424" y="1847088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2025</a:t>
            </a:r>
          </a:p>
        </p:txBody>
      </p:sp>
      <p:sp>
        <p:nvSpPr>
          <p:cNvPr id="16" name="BENCH_KPI_VALUE"/>
          <p:cNvSpPr txBox="1"/>
          <p:nvPr/>
        </p:nvSpPr>
        <p:spPr>
          <a:xfrm>
            <a:off x="4535424" y="2093976"/>
            <a:ext cx="31821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128,000 units</a:t>
            </a:r>
          </a:p>
        </p:txBody>
      </p:sp>
      <p:sp>
        <p:nvSpPr>
          <p:cNvPr id="17" name="BENCH_KPI_CARD"/>
          <p:cNvSpPr/>
          <p:nvPr/>
        </p:nvSpPr>
        <p:spPr>
          <a:xfrm>
            <a:off x="8010144" y="1700784"/>
            <a:ext cx="3511296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DECOR"/>
          <p:cNvSpPr/>
          <p:nvPr/>
        </p:nvSpPr>
        <p:spPr>
          <a:xfrm>
            <a:off x="8010144" y="1700784"/>
            <a:ext cx="64008" cy="1115568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ENCH_KPI_LABEL"/>
          <p:cNvSpPr txBox="1"/>
          <p:nvPr/>
        </p:nvSpPr>
        <p:spPr>
          <a:xfrm>
            <a:off x="8211312" y="1847088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2026</a:t>
            </a:r>
          </a:p>
        </p:txBody>
      </p:sp>
      <p:sp>
        <p:nvSpPr>
          <p:cNvPr id="20" name="BENCH_KPI_VALUE"/>
          <p:cNvSpPr txBox="1"/>
          <p:nvPr/>
        </p:nvSpPr>
        <p:spPr>
          <a:xfrm>
            <a:off x="8211312" y="2093976"/>
            <a:ext cx="31821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35,000 units (파일럿 라인)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불량률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불량률은 점차 감소하고 있다.</a:t>
            </a:r>
          </a:p>
        </p:txBody>
      </p:sp>
      <p:graphicFrame>
        <p:nvGraphicFramePr>
          <p:cNvPr id="9" name="BENCH_CHART"/>
          <p:cNvGraphicFramePr>
            <a:graphicFrameLocks noGrp="1"/>
          </p:cNvGraphicFramePr>
          <p:nvPr/>
        </p:nvGraphicFramePr>
        <p:xfrm>
          <a:off x="713232" y="1700784"/>
          <a:ext cx="10771632" cy="45354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OEE (Overall Equipment Effectiveness)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2026년 파일럿 라인의 OEE는 81%로 가장 높다.</a:t>
            </a:r>
          </a:p>
        </p:txBody>
      </p:sp>
      <p:graphicFrame>
        <p:nvGraphicFramePr>
          <p:cNvPr id="9" name="BENCH_CHART"/>
          <p:cNvGraphicFramePr>
            <a:graphicFrameLocks noGrp="1"/>
          </p:cNvGraphicFramePr>
          <p:nvPr/>
        </p:nvGraphicFramePr>
        <p:xfrm>
          <a:off x="713232" y="1700784"/>
          <a:ext cx="10771632" cy="45354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KPI 요약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KPI 요약</a:t>
            </a:r>
          </a:p>
        </p:txBody>
      </p:sp>
      <p:sp>
        <p:nvSpPr>
          <p:cNvPr id="9" name="BENCH_HERO_CARD"/>
          <p:cNvSpPr/>
          <p:nvPr/>
        </p:nvSpPr>
        <p:spPr>
          <a:xfrm>
            <a:off x="658368" y="1700784"/>
            <a:ext cx="3703320" cy="2331720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HERO_LABEL"/>
          <p:cNvSpPr txBox="1"/>
          <p:nvPr/>
        </p:nvSpPr>
        <p:spPr>
          <a:xfrm>
            <a:off x="969264" y="1956815"/>
            <a:ext cx="30815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F6BFF"/>
                </a:solidFill>
                <a:latin typeface="Malgun Gothic"/>
              </a:rPr>
              <a:t>KPI 요약</a:t>
            </a:r>
          </a:p>
        </p:txBody>
      </p:sp>
      <p:sp>
        <p:nvSpPr>
          <p:cNvPr id="11" name="BENCH_HERO_VALUE"/>
          <p:cNvSpPr txBox="1"/>
          <p:nvPr/>
        </p:nvSpPr>
        <p:spPr>
          <a:xfrm>
            <a:off x="969264" y="2414015"/>
            <a:ext cx="308152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0B1F33"/>
                </a:solidFill>
                <a:latin typeface="Malgun Gothic"/>
              </a:rPr>
              <a:t>2026년</a:t>
            </a:r>
          </a:p>
        </p:txBody>
      </p:sp>
      <p:sp>
        <p:nvSpPr>
          <p:cNvPr id="12" name="BENCH_HERO_DETAIL"/>
          <p:cNvSpPr txBox="1"/>
          <p:nvPr/>
        </p:nvSpPr>
        <p:spPr>
          <a:xfrm>
            <a:off x="969264" y="3145536"/>
            <a:ext cx="3081527" cy="640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7085"/>
                </a:solidFill>
                <a:latin typeface="Malgun Gothic"/>
              </a:rPr>
              <a:t>2026년 파일럿 라인의 OEE는 81%로 가장 높다.</a:t>
            </a:r>
          </a:p>
        </p:txBody>
      </p:sp>
      <p:sp>
        <p:nvSpPr>
          <p:cNvPr id="13" name="BENCH_INSIGHT_CARD"/>
          <p:cNvSpPr/>
          <p:nvPr/>
        </p:nvSpPr>
        <p:spPr>
          <a:xfrm>
            <a:off x="4590288" y="1744675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DECOR"/>
          <p:cNvSpPr/>
          <p:nvPr/>
        </p:nvSpPr>
        <p:spPr>
          <a:xfrm>
            <a:off x="4590288" y="1744675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BODY"/>
          <p:cNvSpPr txBox="1"/>
          <p:nvPr/>
        </p:nvSpPr>
        <p:spPr>
          <a:xfrm>
            <a:off x="4791455" y="1890979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전체 공장 생산량이 연년 증가하고 있다.</a:t>
            </a:r>
          </a:p>
        </p:txBody>
      </p:sp>
      <p:sp>
        <p:nvSpPr>
          <p:cNvPr id="16" name="BENCH_INSIGHT_CARD"/>
          <p:cNvSpPr/>
          <p:nvPr/>
        </p:nvSpPr>
        <p:spPr>
          <a:xfrm>
            <a:off x="4590288" y="3061411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DECOR"/>
          <p:cNvSpPr/>
          <p:nvPr/>
        </p:nvSpPr>
        <p:spPr>
          <a:xfrm>
            <a:off x="4590288" y="3061411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BODY"/>
          <p:cNvSpPr txBox="1"/>
          <p:nvPr/>
        </p:nvSpPr>
        <p:spPr>
          <a:xfrm>
            <a:off x="4791455" y="3207715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불량률은 점차 감소하고 있다.</a:t>
            </a:r>
          </a:p>
        </p:txBody>
      </p:sp>
      <p:sp>
        <p:nvSpPr>
          <p:cNvPr id="19" name="BENCH_INSIGHT_CARD"/>
          <p:cNvSpPr/>
          <p:nvPr/>
        </p:nvSpPr>
        <p:spPr>
          <a:xfrm>
            <a:off x="4590288" y="4378147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ENCH_DECOR"/>
          <p:cNvSpPr/>
          <p:nvPr/>
        </p:nvSpPr>
        <p:spPr>
          <a:xfrm>
            <a:off x="4590288" y="4378147"/>
            <a:ext cx="54864" cy="1170432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ENCH_BODY"/>
          <p:cNvSpPr txBox="1"/>
          <p:nvPr/>
        </p:nvSpPr>
        <p:spPr>
          <a:xfrm>
            <a:off x="4791455" y="4524451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2026년 파일럿 라인의 OEE는 81%로 가장 높다.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확대 도입 전략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확대 도입 전략</a:t>
            </a:r>
          </a:p>
        </p:txBody>
      </p:sp>
      <p:sp>
        <p:nvSpPr>
          <p:cNvPr id="9" name="BENCH_INSIGHT_CARD"/>
          <p:cNvSpPr/>
          <p:nvPr/>
        </p:nvSpPr>
        <p:spPr>
          <a:xfrm>
            <a:off x="658368" y="1823679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823679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BODY"/>
          <p:cNvSpPr txBox="1"/>
          <p:nvPr/>
        </p:nvSpPr>
        <p:spPr>
          <a:xfrm>
            <a:off x="859536" y="1969983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파일럿 라인 성과를 바탕으로 확대 계획 수립.</a:t>
            </a:r>
          </a:p>
        </p:txBody>
      </p:sp>
      <p:sp>
        <p:nvSpPr>
          <p:cNvPr id="12" name="BENCH_INSIGHT_CARD"/>
          <p:cNvSpPr/>
          <p:nvPr/>
        </p:nvSpPr>
        <p:spPr>
          <a:xfrm>
            <a:off x="658368" y="3140415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DECOR"/>
          <p:cNvSpPr/>
          <p:nvPr/>
        </p:nvSpPr>
        <p:spPr>
          <a:xfrm>
            <a:off x="658368" y="3140415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BODY"/>
          <p:cNvSpPr txBox="1"/>
          <p:nvPr/>
        </p:nvSpPr>
        <p:spPr>
          <a:xfrm>
            <a:off x="859536" y="3286719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생산량 및 OEE 향상에 중점을 두고 확대 단계별 KPI 설정.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결론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7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파일럿 라인 성과가 우수하여 확대 도입을 검토할 만하다.</a:t>
            </a:r>
          </a:p>
        </p:txBody>
      </p:sp>
      <p:sp>
        <p:nvSpPr>
          <p:cNvPr id="9" name="BENCH_INSIGHT_CARD"/>
          <p:cNvSpPr/>
          <p:nvPr/>
        </p:nvSpPr>
        <p:spPr>
          <a:xfrm>
            <a:off x="658368" y="1823679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823679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BODY"/>
          <p:cNvSpPr txBox="1"/>
          <p:nvPr/>
        </p:nvSpPr>
        <p:spPr>
          <a:xfrm>
            <a:off x="859536" y="1969983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확대 단계별 KPI 설정 필요.</a:t>
            </a:r>
          </a:p>
        </p:txBody>
      </p:sp>
      <p:sp>
        <p:nvSpPr>
          <p:cNvPr id="12" name="BENCH_INSIGHT_CARD"/>
          <p:cNvSpPr/>
          <p:nvPr/>
        </p:nvSpPr>
        <p:spPr>
          <a:xfrm>
            <a:off x="658368" y="3140415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DECOR"/>
          <p:cNvSpPr/>
          <p:nvPr/>
        </p:nvSpPr>
        <p:spPr>
          <a:xfrm>
            <a:off x="658368" y="3140415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BODY"/>
          <p:cNvSpPr txBox="1"/>
          <p:nvPr/>
        </p:nvSpPr>
        <p:spPr>
          <a:xfrm>
            <a:off x="859536" y="3286719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생산량 및 OEE 향상에 중점을 두고 전략 수립.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권고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8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확대 도입을 검토할 만하다.</a:t>
            </a:r>
          </a:p>
        </p:txBody>
      </p:sp>
      <p:sp>
        <p:nvSpPr>
          <p:cNvPr id="9" name="BENCH_DECISION_CARD"/>
          <p:cNvSpPr/>
          <p:nvPr/>
        </p:nvSpPr>
        <p:spPr>
          <a:xfrm>
            <a:off x="7955279" y="1700784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ISION_ACCENT"/>
          <p:cNvSpPr/>
          <p:nvPr/>
        </p:nvSpPr>
        <p:spPr>
          <a:xfrm>
            <a:off x="7955279" y="1700784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LABEL"/>
          <p:cNvSpPr txBox="1"/>
          <p:nvPr/>
        </p:nvSpPr>
        <p:spPr>
          <a:xfrm>
            <a:off x="8229600" y="188366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2" name="BENCH_DECISION"/>
          <p:cNvSpPr txBox="1"/>
          <p:nvPr/>
        </p:nvSpPr>
        <p:spPr>
          <a:xfrm>
            <a:off x="8229600" y="222199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파일럿 라인 성과가 우수하여 확대 단계로 전환하는 것이 적절하다.</a:t>
            </a:r>
          </a:p>
        </p:txBody>
      </p:sp>
      <p:sp>
        <p:nvSpPr>
          <p:cNvPr id="13" name="BENCH_INSIGHT_CARD"/>
          <p:cNvSpPr/>
          <p:nvPr/>
        </p:nvSpPr>
        <p:spPr>
          <a:xfrm>
            <a:off x="658368" y="1786920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DECOR"/>
          <p:cNvSpPr/>
          <p:nvPr/>
        </p:nvSpPr>
        <p:spPr>
          <a:xfrm>
            <a:off x="658368" y="1786920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BODY"/>
          <p:cNvSpPr txBox="1"/>
          <p:nvPr/>
        </p:nvSpPr>
        <p:spPr>
          <a:xfrm>
            <a:off x="859536" y="1933224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확대 단계별 KPI 설정 필요.</a:t>
            </a:r>
          </a:p>
        </p:txBody>
      </p:sp>
      <p:sp>
        <p:nvSpPr>
          <p:cNvPr id="16" name="BENCH_INSIGHT_CARD"/>
          <p:cNvSpPr/>
          <p:nvPr/>
        </p:nvSpPr>
        <p:spPr>
          <a:xfrm>
            <a:off x="658368" y="3103656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DECOR"/>
          <p:cNvSpPr/>
          <p:nvPr/>
        </p:nvSpPr>
        <p:spPr>
          <a:xfrm>
            <a:off x="658368" y="3103656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BODY"/>
          <p:cNvSpPr txBox="1"/>
          <p:nvPr/>
        </p:nvSpPr>
        <p:spPr>
          <a:xfrm>
            <a:off x="859536" y="3249960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생산량 및 OEE 향상에 중점을 두고 전략 수립.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