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사고 리뷰 보고서</a:t>
            </a:r>
          </a:p>
        </p:txBody>
      </p:sp>
      <p:sp>
        <p:nvSpPr>
          <p:cNvPr id="6" name="BENCH_SUBTITLE"/>
          <p:cNvSpPr txBox="1"/>
          <p:nvPr/>
        </p:nvSpPr>
        <p:spPr>
          <a:xfrm>
            <a:off x="1143000" y="2724912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6E0EA"/>
                </a:solidFill>
                <a:latin typeface="Malgun Gothic"/>
              </a:rPr>
              <a:t>2023년 11월 분진 관련 사고</a:t>
            </a:r>
          </a:p>
        </p:txBody>
      </p:sp>
      <p:sp>
        <p:nvSpPr>
          <p:cNvPr id="7" name="BENCH_COVER_TAKEAWAY_BG"/>
          <p:cNvSpPr/>
          <p:nvPr/>
        </p:nvSpPr>
        <p:spPr>
          <a:xfrm>
            <a:off x="1115568" y="3547872"/>
            <a:ext cx="9464040" cy="960120"/>
          </a:xfrm>
          <a:prstGeom prst="roundRect">
            <a:avLst/>
          </a:prstGeom>
          <a:solidFill>
            <a:srgbClr val="13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1389888" y="3767328"/>
            <a:ext cx="8915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E7EEF7"/>
                </a:solidFill>
                <a:latin typeface="Malgun Gothic"/>
              </a:rPr>
              <a:t>분진 누적과 시스템 반응 과정을 체계적으로 검토 필요</a:t>
            </a:r>
          </a:p>
        </p:txBody>
      </p:sp>
      <p:sp>
        <p:nvSpPr>
          <p:cNvPr id="9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10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사건 개요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주요 이벤트 요약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고온 경고 → 분진 축적 → 보호정지 → 재가동까지 29분 소요</a:t>
            </a:r>
          </a:p>
        </p:txBody>
      </p:sp>
      <p:sp>
        <p:nvSpPr>
          <p:cNvPr id="10" name="BENCH_INSIGHT_CARD"/>
          <p:cNvSpPr/>
          <p:nvPr/>
        </p:nvSpPr>
        <p:spPr>
          <a:xfrm>
            <a:off x="658368" y="1892442"/>
            <a:ext cx="5349240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OR"/>
          <p:cNvSpPr/>
          <p:nvPr/>
        </p:nvSpPr>
        <p:spPr>
          <a:xfrm>
            <a:off x="658368" y="1892442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BODY"/>
          <p:cNvSpPr txBox="1"/>
          <p:nvPr/>
        </p:nvSpPr>
        <p:spPr>
          <a:xfrm>
            <a:off x="859536" y="2038746"/>
            <a:ext cx="5001768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14:02 고온 경고 발생</a:t>
            </a:r>
          </a:p>
        </p:txBody>
      </p:sp>
      <p:sp>
        <p:nvSpPr>
          <p:cNvPr id="13" name="BENCH_INSIGHT_CARD"/>
          <p:cNvSpPr/>
          <p:nvPr/>
        </p:nvSpPr>
        <p:spPr>
          <a:xfrm>
            <a:off x="6172200" y="1892442"/>
            <a:ext cx="5349240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DECOR"/>
          <p:cNvSpPr/>
          <p:nvPr/>
        </p:nvSpPr>
        <p:spPr>
          <a:xfrm>
            <a:off x="6172200" y="1892442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BODY"/>
          <p:cNvSpPr txBox="1"/>
          <p:nvPr/>
        </p:nvSpPr>
        <p:spPr>
          <a:xfrm>
            <a:off x="6373368" y="2038746"/>
            <a:ext cx="5001768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14:07 보호정지 실행</a:t>
            </a:r>
          </a:p>
        </p:txBody>
      </p:sp>
      <p:sp>
        <p:nvSpPr>
          <p:cNvPr id="16" name="BENCH_INSIGHT_CARD"/>
          <p:cNvSpPr/>
          <p:nvPr/>
        </p:nvSpPr>
        <p:spPr>
          <a:xfrm>
            <a:off x="658368" y="3209178"/>
            <a:ext cx="5349240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DECOR"/>
          <p:cNvSpPr/>
          <p:nvPr/>
        </p:nvSpPr>
        <p:spPr>
          <a:xfrm>
            <a:off x="658368" y="3209178"/>
            <a:ext cx="54864" cy="1170432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BODY"/>
          <p:cNvSpPr txBox="1"/>
          <p:nvPr/>
        </p:nvSpPr>
        <p:spPr>
          <a:xfrm>
            <a:off x="859536" y="3355482"/>
            <a:ext cx="5001768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14:16 분진 확인 및 제거</a:t>
            </a:r>
          </a:p>
        </p:txBody>
      </p:sp>
      <p:sp>
        <p:nvSpPr>
          <p:cNvPr id="19" name="BENCH_INSIGHT_CARD"/>
          <p:cNvSpPr/>
          <p:nvPr/>
        </p:nvSpPr>
        <p:spPr>
          <a:xfrm>
            <a:off x="6172200" y="3209178"/>
            <a:ext cx="5349240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ENCH_DECOR"/>
          <p:cNvSpPr/>
          <p:nvPr/>
        </p:nvSpPr>
        <p:spPr>
          <a:xfrm>
            <a:off x="6172200" y="3209178"/>
            <a:ext cx="54864" cy="1170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ENCH_BODY"/>
          <p:cNvSpPr txBox="1"/>
          <p:nvPr/>
        </p:nvSpPr>
        <p:spPr>
          <a:xfrm>
            <a:off x="6373368" y="3355482"/>
            <a:ext cx="5001768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14:31 재가동 완료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타임라인 시각화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분진 누적과 시스템 반응 간 시간 차이 분석 필요</a:t>
            </a:r>
          </a:p>
        </p:txBody>
      </p:sp>
      <p:sp>
        <p:nvSpPr>
          <p:cNvPr id="9" name="BENCH_TIMELINE"/>
          <p:cNvSpPr/>
          <p:nvPr/>
        </p:nvSpPr>
        <p:spPr>
          <a:xfrm>
            <a:off x="713232" y="3701125"/>
            <a:ext cx="10698480" cy="36576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TIMELINE"/>
          <p:cNvSpPr/>
          <p:nvPr/>
        </p:nvSpPr>
        <p:spPr>
          <a:xfrm>
            <a:off x="1809826" y="3627973"/>
            <a:ext cx="164592" cy="1645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TIMELINE_TIME"/>
          <p:cNvSpPr txBox="1"/>
          <p:nvPr/>
        </p:nvSpPr>
        <p:spPr>
          <a:xfrm>
            <a:off x="927201" y="1865376"/>
            <a:ext cx="21931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</p:txBody>
      </p:sp>
      <p:sp>
        <p:nvSpPr>
          <p:cNvPr id="12" name="BENCH_TIMELINE_TEXT"/>
          <p:cNvSpPr txBox="1"/>
          <p:nvPr/>
        </p:nvSpPr>
        <p:spPr>
          <a:xfrm>
            <a:off x="927201" y="2432304"/>
            <a:ext cx="2193188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고온 경고 발생 (14:02)</a:t>
            </a:r>
          </a:p>
        </p:txBody>
      </p:sp>
      <p:sp>
        <p:nvSpPr>
          <p:cNvPr id="13" name="BENCH_TIMELINE"/>
          <p:cNvSpPr/>
          <p:nvPr/>
        </p:nvSpPr>
        <p:spPr>
          <a:xfrm>
            <a:off x="4484446" y="3627973"/>
            <a:ext cx="164592" cy="16459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TIMELINE_TIME"/>
          <p:cNvSpPr txBox="1"/>
          <p:nvPr/>
        </p:nvSpPr>
        <p:spPr>
          <a:xfrm>
            <a:off x="3601821" y="1865376"/>
            <a:ext cx="21931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</p:txBody>
      </p:sp>
      <p:sp>
        <p:nvSpPr>
          <p:cNvPr id="15" name="BENCH_TIMELINE_TEXT"/>
          <p:cNvSpPr txBox="1"/>
          <p:nvPr/>
        </p:nvSpPr>
        <p:spPr>
          <a:xfrm>
            <a:off x="3601821" y="2432304"/>
            <a:ext cx="2193188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보호정지 실행 (14:07)</a:t>
            </a:r>
          </a:p>
        </p:txBody>
      </p:sp>
      <p:sp>
        <p:nvSpPr>
          <p:cNvPr id="16" name="BENCH_TIMELINE"/>
          <p:cNvSpPr/>
          <p:nvPr/>
        </p:nvSpPr>
        <p:spPr>
          <a:xfrm>
            <a:off x="7159066" y="3627973"/>
            <a:ext cx="164592" cy="164592"/>
          </a:xfrm>
          <a:prstGeom prst="ellipse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TIMELINE_TIME"/>
          <p:cNvSpPr txBox="1"/>
          <p:nvPr/>
        </p:nvSpPr>
        <p:spPr>
          <a:xfrm>
            <a:off x="6276441" y="1865376"/>
            <a:ext cx="21931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</p:txBody>
      </p:sp>
      <p:sp>
        <p:nvSpPr>
          <p:cNvPr id="18" name="BENCH_TIMELINE_TEXT"/>
          <p:cNvSpPr txBox="1"/>
          <p:nvPr/>
        </p:nvSpPr>
        <p:spPr>
          <a:xfrm>
            <a:off x="6276441" y="2432304"/>
            <a:ext cx="2193188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분진 확인 및 제거 (14:16)</a:t>
            </a:r>
          </a:p>
        </p:txBody>
      </p:sp>
      <p:sp>
        <p:nvSpPr>
          <p:cNvPr id="19" name="BENCH_TIMELINE"/>
          <p:cNvSpPr/>
          <p:nvPr/>
        </p:nvSpPr>
        <p:spPr>
          <a:xfrm>
            <a:off x="9833686" y="3627973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ENCH_TIMELINE_TIME"/>
          <p:cNvSpPr txBox="1"/>
          <p:nvPr/>
        </p:nvSpPr>
        <p:spPr>
          <a:xfrm>
            <a:off x="8951061" y="1865376"/>
            <a:ext cx="21931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</p:txBody>
      </p:sp>
      <p:sp>
        <p:nvSpPr>
          <p:cNvPr id="21" name="BENCH_TIMELINE_TEXT"/>
          <p:cNvSpPr txBox="1"/>
          <p:nvPr/>
        </p:nvSpPr>
        <p:spPr>
          <a:xfrm>
            <a:off x="8951061" y="2432304"/>
            <a:ext cx="2193188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재가동 완료 (14:31)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직접 트리거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즉각적 원인 분석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분진 축적이 보호정지 실행의 직접적 요인</a:t>
            </a:r>
          </a:p>
        </p:txBody>
      </p:sp>
      <p:sp>
        <p:nvSpPr>
          <p:cNvPr id="10" name="BENCH_KPI_CARD"/>
          <p:cNvSpPr/>
          <p:nvPr/>
        </p:nvSpPr>
        <p:spPr>
          <a:xfrm>
            <a:off x="658368" y="1773936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OR"/>
          <p:cNvSpPr/>
          <p:nvPr/>
        </p:nvSpPr>
        <p:spPr>
          <a:xfrm>
            <a:off x="658368" y="1773936"/>
            <a:ext cx="64008" cy="11155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KPI_LABEL"/>
          <p:cNvSpPr txBox="1"/>
          <p:nvPr/>
        </p:nvSpPr>
        <p:spPr>
          <a:xfrm>
            <a:off x="859536" y="1920240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분진 농도</a:t>
            </a:r>
          </a:p>
        </p:txBody>
      </p:sp>
      <p:sp>
        <p:nvSpPr>
          <p:cNvPr id="13" name="BENCH_KPI_VALUE"/>
          <p:cNvSpPr txBox="1"/>
          <p:nvPr/>
        </p:nvSpPr>
        <p:spPr>
          <a:xfrm>
            <a:off x="859536" y="2167128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91.1°C</a:t>
            </a:r>
          </a:p>
        </p:txBody>
      </p:sp>
      <p:sp>
        <p:nvSpPr>
          <p:cNvPr id="14" name="BENCH_KPI_DETAIL"/>
          <p:cNvSpPr txBox="1"/>
          <p:nvPr/>
        </p:nvSpPr>
        <p:spPr>
          <a:xfrm>
            <a:off x="859536" y="2670048"/>
            <a:ext cx="50200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보호설비 기준치 초과</a:t>
            </a:r>
          </a:p>
        </p:txBody>
      </p:sp>
      <p:sp>
        <p:nvSpPr>
          <p:cNvPr id="15" name="BENCH_KPI_CARD"/>
          <p:cNvSpPr/>
          <p:nvPr/>
        </p:nvSpPr>
        <p:spPr>
          <a:xfrm>
            <a:off x="6172200" y="1773936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DECOR"/>
          <p:cNvSpPr/>
          <p:nvPr/>
        </p:nvSpPr>
        <p:spPr>
          <a:xfrm>
            <a:off x="6172200" y="1773936"/>
            <a:ext cx="64008" cy="11155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KPI_LABEL"/>
          <p:cNvSpPr txBox="1"/>
          <p:nvPr/>
        </p:nvSpPr>
        <p:spPr>
          <a:xfrm>
            <a:off x="6373368" y="1920240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반응 시간</a:t>
            </a:r>
          </a:p>
        </p:txBody>
      </p:sp>
      <p:sp>
        <p:nvSpPr>
          <p:cNvPr id="18" name="BENCH_KPI_VALUE"/>
          <p:cNvSpPr txBox="1"/>
          <p:nvPr/>
        </p:nvSpPr>
        <p:spPr>
          <a:xfrm>
            <a:off x="6373368" y="2167128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5분</a:t>
            </a:r>
          </a:p>
        </p:txBody>
      </p:sp>
      <p:sp>
        <p:nvSpPr>
          <p:cNvPr id="19" name="BENCH_KPI_DETAIL"/>
          <p:cNvSpPr txBox="1"/>
          <p:nvPr/>
        </p:nvSpPr>
        <p:spPr>
          <a:xfrm>
            <a:off x="6373368" y="2670048"/>
            <a:ext cx="50200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정상 반응 시간 대비 2배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근본원인 불확실성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진동 데이터 누락으로 인한 원인 규명 한계</a:t>
            </a:r>
          </a:p>
        </p:txBody>
      </p:sp>
      <p:graphicFrame>
        <p:nvGraphicFramePr>
          <p:cNvPr id="9" name="BENCH_TABLE"/>
          <p:cNvGraphicFramePr>
            <a:graphicFrameLocks noGrp="1"/>
          </p:cNvGraphicFramePr>
          <p:nvPr/>
        </p:nvGraphicFramePr>
        <p:xfrm>
          <a:off x="658368" y="1700784"/>
          <a:ext cx="10863072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1536"/>
                <a:gridCol w="5431536"/>
              </a:tblGrid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분진 축적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불확실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진동 데이터 누락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확인 중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센서 수집 오류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검증 필요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조치 계획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6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다부서 협업으로 사고 재발 방지 체계 구축</a:t>
            </a:r>
          </a:p>
        </p:txBody>
      </p:sp>
      <p:graphicFrame>
        <p:nvGraphicFramePr>
          <p:cNvPr id="9" name="BENCH_TABLE"/>
          <p:cNvGraphicFramePr>
            <a:graphicFrameLocks noGrp="1"/>
          </p:cNvGraphicFramePr>
          <p:nvPr/>
        </p:nvGraphicFramePr>
        <p:xfrm>
          <a:off x="658368" y="1700784"/>
          <a:ext cx="10863072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1536"/>
                <a:gridCol w="2715768"/>
                <a:gridCol w="2715768"/>
              </a:tblGrid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흡입구 청소주기 준수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설비팀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즉시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진동센서 수집 복구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자동화팀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2주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과열 RCA 재검증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품질팀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1주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