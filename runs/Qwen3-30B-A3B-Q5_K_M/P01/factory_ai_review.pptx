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생산성 및 품질 지표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71.0</c:v>
                </c:pt>
                <c:pt idx="1">
                  <c:v>74.0</c:v>
                </c:pt>
                <c:pt idx="2">
                  <c:v>81.0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결함률(%)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300" b="1">
                <a:solidFill>
                  <a:srgbClr val="0B1F33"/>
                </a:solidFill>
                <a:latin typeface="Malgun Gothic"/>
              </a:rPr>
              <a:t>생산규모 대비 품질 지표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Sheet1!$A$2:$A$4</c:f>
              <c:strCache>
                <c:ptCount val="3"/>
                <c:pt idx="0">
                  <c:v>2024 전체공장</c:v>
                </c:pt>
                <c:pt idx="1">
                  <c:v>2025 전체공장</c:v>
                </c:pt>
                <c:pt idx="2">
                  <c:v>2026 파일럿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120000.0</c:v>
                </c:pt>
                <c:pt idx="1">
                  <c:v>128000.0</c:v>
                </c:pt>
                <c:pt idx="2">
                  <c:v>35000.0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결함률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Sheet1!$A$2:$A$4</c:f>
              <c:strCache>
                <c:ptCount val="3"/>
                <c:pt idx="0">
                  <c:v>2024 전체공장</c:v>
                </c:pt>
                <c:pt idx="1">
                  <c:v>2025 전체공장</c:v>
                </c:pt>
                <c:pt idx="2">
                  <c:v>2026 파일럿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성과 검토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2024-2026 연도별 KPI 분석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AI 도입으로 OEE 71% → 74%, 결함률 5.2% → 4.8% 개선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보고 범위 및 데이터 출처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공장 전체 및 파일럿 라인 데이터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2026년 데이터는 파일럿 라인 1개 기준이며, 전체 공장 실적이 아님</a:t>
            </a:r>
          </a:p>
        </p:txBody>
      </p:sp>
      <p:sp>
        <p:nvSpPr>
          <p:cNvPr id="10" name="BENCH_HERO_CARD"/>
          <p:cNvSpPr/>
          <p:nvPr/>
        </p:nvSpPr>
        <p:spPr>
          <a:xfrm>
            <a:off x="658368" y="1773936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HERO_LABEL"/>
          <p:cNvSpPr txBox="1"/>
          <p:nvPr/>
        </p:nvSpPr>
        <p:spPr>
          <a:xfrm>
            <a:off x="969264" y="2029967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보고 범위 및 데이터 출처</a:t>
            </a:r>
          </a:p>
        </p:txBody>
      </p:sp>
      <p:sp>
        <p:nvSpPr>
          <p:cNvPr id="12" name="BENCH_HERO_VALUE"/>
          <p:cNvSpPr txBox="1"/>
          <p:nvPr/>
        </p:nvSpPr>
        <p:spPr>
          <a:xfrm>
            <a:off x="969264" y="248716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2026년</a:t>
            </a:r>
          </a:p>
        </p:txBody>
      </p:sp>
      <p:sp>
        <p:nvSpPr>
          <p:cNvPr id="13" name="BENCH_HERO_DETAIL"/>
          <p:cNvSpPr txBox="1"/>
          <p:nvPr/>
        </p:nvSpPr>
        <p:spPr>
          <a:xfrm>
            <a:off x="969264" y="321868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2026년 데이터는 파일럿 라인 1개 기준이며, 전체 공장 실적이 아님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4590288" y="1892442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590288" y="1892442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4791455" y="2038746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factory_kpi.xlsx - KPI 시트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4590288" y="3209178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4590288" y="3209178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4791455" y="3355482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라인(2026)과 전략적 비교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연도별 주요 지표 추이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OEE 71% → 74%로 상승세 유지, 결함률은 지속 감소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658368" y="1700784"/>
          <a:ext cx="5577840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BENCH_TABLE"/>
          <p:cNvGraphicFramePr>
            <a:graphicFrameLocks noGrp="1"/>
          </p:cNvGraphicFramePr>
          <p:nvPr/>
        </p:nvGraphicFramePr>
        <p:xfrm>
          <a:off x="6419088" y="1700784"/>
          <a:ext cx="510235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70"/>
                <a:gridCol w="1020470"/>
                <a:gridCol w="1020470"/>
                <a:gridCol w="1020470"/>
                <a:gridCol w="1020472"/>
              </a:tblGrid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년도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범위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생산량(단위)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결함률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OEE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전체공장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120,000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5.2%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71%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전체공장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128,000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4.8%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74%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파일럿 라인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35,000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3.1%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81%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생산량 대비 품질 성과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라인은 2026년 기준으로 전략적 확대 가능성이 있음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 성과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라인은 단기적으로 우수한 성과를 보였으나 확대 시 리스크 검토 필요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1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183"/>
                <a:gridCol w="1520830"/>
                <a:gridCol w="1520830"/>
                <a:gridCol w="4345228"/>
              </a:tblGrid>
              <a:tr h="2267712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범위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생산량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결함률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OEE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</a:tr>
              <a:tr h="2267712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2026 파일럿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35,000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3.1%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81%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 검토 사항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성과를 기반으로 확대 도입 검토 필요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74467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89097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2026 파일럿 데이터는 단일 라인 기준임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06141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0771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전체 공장 확대 시 인프라/비용 증가 예상</a:t>
            </a:r>
          </a:p>
        </p:txBody>
      </p:sp>
      <p:sp>
        <p:nvSpPr>
          <p:cNvPr id="15" name="BENCH_INSIGHT_CARD"/>
          <p:cNvSpPr/>
          <p:nvPr/>
        </p:nvSpPr>
        <p:spPr>
          <a:xfrm>
            <a:off x="658368" y="437814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BODY"/>
          <p:cNvSpPr txBox="1"/>
          <p:nvPr/>
        </p:nvSpPr>
        <p:spPr>
          <a:xfrm>
            <a:off x="859536" y="452445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품질 유지 가능성 검증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권고사항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성과를 바탕으로 단계적 확대 도입을 추천함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2027년 상반기까지 추가 시범 운영 후 확대 결정 권장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Q&amp;A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추가 문의사항은 경영지원팀으로 연락바랍니다.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이메일: support@factory.ai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전화: 02-1234-5678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