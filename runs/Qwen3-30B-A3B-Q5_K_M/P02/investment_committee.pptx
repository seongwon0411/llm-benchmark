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현금흐름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dPt>
            <c:idx val="0"/>
            <c:spPr>
              <a:solidFill>
                <a:srgbClr val="C43D3D"/>
              </a:solidFill>
              <a:ln>
                <a:solidFill>
                  <a:srgbClr val="C43D3D"/>
                </a:solidFill>
              </a:ln>
            </c:spPr>
          </c:dPt>
          <c:dPt>
            <c:idx val="1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2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3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4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-420.0</c:v>
                </c:pt>
                <c:pt idx="1">
                  <c:v>105.0</c:v>
                </c:pt>
                <c:pt idx="2">
                  <c:v>125.0</c:v>
                </c:pt>
                <c:pt idx="3">
                  <c:v>145.0</c:v>
                </c:pt>
                <c:pt idx="4">
                  <c:v>155.0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투자 프로젝트 개요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현금흐름 기반 투자 심의</a:t>
            </a:r>
          </a:p>
        </p:txBody>
      </p:sp>
      <p:sp>
        <p:nvSpPr>
          <p:cNvPr id="7" name="BENCH_COVER_TAKEAWAY_BG"/>
          <p:cNvSpPr/>
          <p:nvPr/>
        </p:nvSpPr>
        <p:spPr>
          <a:xfrm>
            <a:off x="1115568" y="3547872"/>
            <a:ext cx="9464040" cy="960120"/>
          </a:xfrm>
          <a:prstGeom prst="roundRect">
            <a:avLst/>
          </a:prstGeom>
          <a:solidFill>
            <a:srgbClr val="13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1389888" y="3767328"/>
            <a:ext cx="8915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E7EEF7"/>
                </a:solidFill>
                <a:latin typeface="Malgun Gothic"/>
              </a:rPr>
              <a:t>총 4년 소요, 누적 현금흐름 110억 원 달성</a:t>
            </a:r>
          </a:p>
        </p:txBody>
      </p:sp>
      <p:sp>
        <p:nvSpPr>
          <p:cNvPr id="9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10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핵심 재무 지표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KPI_CARD"/>
          <p:cNvSpPr/>
          <p:nvPr/>
        </p:nvSpPr>
        <p:spPr>
          <a:xfrm>
            <a:off x="658368" y="1042415"/>
            <a:ext cx="351129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DECOR"/>
          <p:cNvSpPr/>
          <p:nvPr/>
        </p:nvSpPr>
        <p:spPr>
          <a:xfrm>
            <a:off x="658368" y="1042415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KPI_LABEL"/>
          <p:cNvSpPr txBox="1"/>
          <p:nvPr/>
        </p:nvSpPr>
        <p:spPr>
          <a:xfrm>
            <a:off x="859536" y="1188719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초기 투자비</a:t>
            </a:r>
          </a:p>
        </p:txBody>
      </p:sp>
      <p:sp>
        <p:nvSpPr>
          <p:cNvPr id="10" name="BENCH_KPI_VALUE"/>
          <p:cNvSpPr txBox="1"/>
          <p:nvPr/>
        </p:nvSpPr>
        <p:spPr>
          <a:xfrm>
            <a:off x="859536" y="1435607"/>
            <a:ext cx="31821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-420억 원</a:t>
            </a:r>
          </a:p>
        </p:txBody>
      </p:sp>
      <p:sp>
        <p:nvSpPr>
          <p:cNvPr id="11" name="BENCH_KPI_CARD"/>
          <p:cNvSpPr/>
          <p:nvPr/>
        </p:nvSpPr>
        <p:spPr>
          <a:xfrm>
            <a:off x="4334256" y="1042415"/>
            <a:ext cx="351129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DECOR"/>
          <p:cNvSpPr/>
          <p:nvPr/>
        </p:nvSpPr>
        <p:spPr>
          <a:xfrm>
            <a:off x="4334256" y="1042415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KPI_LABEL"/>
          <p:cNvSpPr txBox="1"/>
          <p:nvPr/>
        </p:nvSpPr>
        <p:spPr>
          <a:xfrm>
            <a:off x="4535424" y="1188719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회수 기간(Payback)</a:t>
            </a:r>
          </a:p>
        </p:txBody>
      </p:sp>
      <p:sp>
        <p:nvSpPr>
          <p:cNvPr id="14" name="BENCH_KPI_VALUE"/>
          <p:cNvSpPr txBox="1"/>
          <p:nvPr/>
        </p:nvSpPr>
        <p:spPr>
          <a:xfrm>
            <a:off x="4535424" y="1435607"/>
            <a:ext cx="31821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3.29년</a:t>
            </a:r>
          </a:p>
        </p:txBody>
      </p:sp>
      <p:sp>
        <p:nvSpPr>
          <p:cNvPr id="15" name="BENCH_KPI_CARD"/>
          <p:cNvSpPr/>
          <p:nvPr/>
        </p:nvSpPr>
        <p:spPr>
          <a:xfrm>
            <a:off x="8010144" y="1042415"/>
            <a:ext cx="3511296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DECOR"/>
          <p:cNvSpPr/>
          <p:nvPr/>
        </p:nvSpPr>
        <p:spPr>
          <a:xfrm>
            <a:off x="8010144" y="1042415"/>
            <a:ext cx="64008" cy="1115568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KPI_LABEL"/>
          <p:cNvSpPr txBox="1"/>
          <p:nvPr/>
        </p:nvSpPr>
        <p:spPr>
          <a:xfrm>
            <a:off x="8211312" y="1188719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4년 누적 현금흐름</a:t>
            </a:r>
          </a:p>
        </p:txBody>
      </p:sp>
      <p:sp>
        <p:nvSpPr>
          <p:cNvPr id="18" name="BENCH_KPI_VALUE"/>
          <p:cNvSpPr txBox="1"/>
          <p:nvPr/>
        </p:nvSpPr>
        <p:spPr>
          <a:xfrm>
            <a:off x="8211312" y="1435607"/>
            <a:ext cx="31821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+110억 원</a:t>
            </a:r>
          </a:p>
        </p:txBody>
      </p:sp>
      <p:graphicFrame>
        <p:nvGraphicFramePr>
          <p:cNvPr id="19" name="BENCH_CHART"/>
          <p:cNvGraphicFramePr>
            <a:graphicFrameLocks noGrp="1"/>
          </p:cNvGraphicFramePr>
          <p:nvPr/>
        </p:nvGraphicFramePr>
        <p:xfrm>
          <a:off x="658368" y="2340863"/>
          <a:ext cx="5577840" cy="389534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0" name="BENCH_TABLE"/>
          <p:cNvGraphicFramePr>
            <a:graphicFrameLocks noGrp="1"/>
          </p:cNvGraphicFramePr>
          <p:nvPr/>
        </p:nvGraphicFramePr>
        <p:xfrm>
          <a:off x="6419088" y="2340863"/>
          <a:ext cx="5102352" cy="389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2551176"/>
              </a:tblGrid>
              <a:tr h="77906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Year 0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-420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77906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Year 1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105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7906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Year 2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125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77906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Year 3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145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79072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Year 4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155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회수 기간 계산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3년차 중반에 초기 투자 회수 가능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5431536"/>
              </a:tblGrid>
              <a:tr h="755904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연도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누적 현금흐름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755904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Year 0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-420억 원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5904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Year 1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-315억 원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755904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Year 2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-190억 원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5904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Year 3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-45억 원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755904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Year 4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r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+110억 원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주요 리스크 분석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일반화 실패가 가장 높은 영향 미침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2715768"/>
                <a:gridCol w="2715768"/>
              </a:tblGrid>
              <a:tr h="1133856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리스크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확률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영향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133856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파일럿 일반화 실패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marL="91440" marR="91440" marT="54864" marB="54864">
                    <a:solidFill>
                      <a:srgbClr val="FDECEC"/>
                    </a:solidFill>
                  </a:tcPr>
                </a:tc>
              </a:tr>
              <a:tr h="1133856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교육 지연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</a:tr>
              <a:tr h="1133856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센서 추가비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36B48"/>
                          </a:solidFill>
                          <a:latin typeface="Malgun Gothic"/>
                        </a:rPr>
                        <a:t>낮음</a:t>
                      </a:r>
                    </a:p>
                  </a:txBody>
                  <a:tcPr marL="91440" marR="91440" marT="54864" marB="54864">
                    <a:solidFill>
                      <a:srgbClr val="EAF6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리스크 대응 전략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단계에서 확장성 검증 강화 필요</a:t>
            </a:r>
          </a:p>
        </p:txBody>
      </p:sp>
      <p:sp>
        <p:nvSpPr>
          <p:cNvPr id="9" name="BENCH_HERO_CARD"/>
          <p:cNvSpPr/>
          <p:nvPr/>
        </p:nvSpPr>
        <p:spPr>
          <a:xfrm>
            <a:off x="658368" y="1700784"/>
            <a:ext cx="3703320" cy="2331720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HERO_LABEL"/>
          <p:cNvSpPr txBox="1"/>
          <p:nvPr/>
        </p:nvSpPr>
        <p:spPr>
          <a:xfrm>
            <a:off x="969264" y="1956815"/>
            <a:ext cx="30815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F6BFF"/>
                </a:solidFill>
                <a:latin typeface="Malgun Gothic"/>
              </a:rPr>
              <a:t>리스크 대응 전략</a:t>
            </a:r>
          </a:p>
        </p:txBody>
      </p:sp>
      <p:sp>
        <p:nvSpPr>
          <p:cNvPr id="11" name="BENCH_HERO_VALUE"/>
          <p:cNvSpPr txBox="1"/>
          <p:nvPr/>
        </p:nvSpPr>
        <p:spPr>
          <a:xfrm>
            <a:off x="969264" y="2414015"/>
            <a:ext cx="30815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0B1F33"/>
                </a:solidFill>
                <a:latin typeface="Malgun Gothic"/>
              </a:rPr>
              <a:t>20%</a:t>
            </a:r>
          </a:p>
        </p:txBody>
      </p:sp>
      <p:sp>
        <p:nvSpPr>
          <p:cNvPr id="12" name="BENCH_HERO_DETAIL"/>
          <p:cNvSpPr txBox="1"/>
          <p:nvPr/>
        </p:nvSpPr>
        <p:spPr>
          <a:xfrm>
            <a:off x="969264" y="3145536"/>
            <a:ext cx="3081527" cy="64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085"/>
                </a:solidFill>
                <a:latin typeface="Malgun Gothic"/>
              </a:rPr>
              <a:t>교육 일정에 20% 여유기간 추가</a:t>
            </a:r>
          </a:p>
        </p:txBody>
      </p:sp>
      <p:sp>
        <p:nvSpPr>
          <p:cNvPr id="13" name="BENCH_INSIGHT_CARD"/>
          <p:cNvSpPr/>
          <p:nvPr/>
        </p:nvSpPr>
        <p:spPr>
          <a:xfrm>
            <a:off x="4590288" y="1744675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4590288" y="1744675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BODY"/>
          <p:cNvSpPr txBox="1"/>
          <p:nvPr/>
        </p:nvSpPr>
        <p:spPr>
          <a:xfrm>
            <a:off x="4791455" y="1890979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파일럿 결과 기반 확장 전략 재검토</a:t>
            </a:r>
          </a:p>
        </p:txBody>
      </p:sp>
      <p:sp>
        <p:nvSpPr>
          <p:cNvPr id="16" name="BENCH_INSIGHT_CARD"/>
          <p:cNvSpPr/>
          <p:nvPr/>
        </p:nvSpPr>
        <p:spPr>
          <a:xfrm>
            <a:off x="4590288" y="3061411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DECOR"/>
          <p:cNvSpPr/>
          <p:nvPr/>
        </p:nvSpPr>
        <p:spPr>
          <a:xfrm>
            <a:off x="4590288" y="3061411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BODY"/>
          <p:cNvSpPr txBox="1"/>
          <p:nvPr/>
        </p:nvSpPr>
        <p:spPr>
          <a:xfrm>
            <a:off x="4791455" y="3207715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교육 일정에 20% 여유기간 추가</a:t>
            </a:r>
          </a:p>
        </p:txBody>
      </p:sp>
      <p:sp>
        <p:nvSpPr>
          <p:cNvPr id="19" name="BENCH_INSIGHT_CARD"/>
          <p:cNvSpPr/>
          <p:nvPr/>
        </p:nvSpPr>
        <p:spPr>
          <a:xfrm>
            <a:off x="4590288" y="4378147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DECOR"/>
          <p:cNvSpPr/>
          <p:nvPr/>
        </p:nvSpPr>
        <p:spPr>
          <a:xfrm>
            <a:off x="4590288" y="4378147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ENCH_BODY"/>
          <p:cNvSpPr txBox="1"/>
          <p:nvPr/>
        </p:nvSpPr>
        <p:spPr>
          <a:xfrm>
            <a:off x="4791455" y="4524451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센서 공급업체 다각화로 비용 통제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투자 결정 제안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회수 기간 내 초기 투자 회수 가능하며 리스크 대응 전략 수립 시 투자 권장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조건: 파일럿 확장성 검증 완료 후 2단계 투자 진행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요약 및 결론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7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현금흐름 기반 투자 타당성 입증, 리스크 관리 체계 필요</a:t>
            </a:r>
          </a:p>
        </p:txBody>
      </p:sp>
      <p:sp>
        <p:nvSpPr>
          <p:cNvPr id="9" name="BENCH_HERO_CARD"/>
          <p:cNvSpPr/>
          <p:nvPr/>
        </p:nvSpPr>
        <p:spPr>
          <a:xfrm>
            <a:off x="658368" y="1700784"/>
            <a:ext cx="3703320" cy="2331720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HERO_LABEL"/>
          <p:cNvSpPr txBox="1"/>
          <p:nvPr/>
        </p:nvSpPr>
        <p:spPr>
          <a:xfrm>
            <a:off x="969264" y="1956815"/>
            <a:ext cx="30815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F6BFF"/>
                </a:solidFill>
                <a:latin typeface="Malgun Gothic"/>
              </a:rPr>
              <a:t>요약 및 결론</a:t>
            </a:r>
          </a:p>
        </p:txBody>
      </p:sp>
      <p:sp>
        <p:nvSpPr>
          <p:cNvPr id="11" name="BENCH_HERO_VALUE"/>
          <p:cNvSpPr txBox="1"/>
          <p:nvPr/>
        </p:nvSpPr>
        <p:spPr>
          <a:xfrm>
            <a:off x="969264" y="2414015"/>
            <a:ext cx="30815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0B1F33"/>
                </a:solidFill>
                <a:latin typeface="Malgun Gothic"/>
              </a:rPr>
              <a:t>4년</a:t>
            </a:r>
          </a:p>
        </p:txBody>
      </p:sp>
      <p:sp>
        <p:nvSpPr>
          <p:cNvPr id="12" name="BENCH_HERO_DETAIL"/>
          <p:cNvSpPr txBox="1"/>
          <p:nvPr/>
        </p:nvSpPr>
        <p:spPr>
          <a:xfrm>
            <a:off x="969264" y="3145536"/>
            <a:ext cx="3081527" cy="64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085"/>
                </a:solidFill>
                <a:latin typeface="Malgun Gothic"/>
              </a:rPr>
              <a:t>4년 누적 현금흐름 110억 원 달성</a:t>
            </a:r>
          </a:p>
        </p:txBody>
      </p:sp>
      <p:sp>
        <p:nvSpPr>
          <p:cNvPr id="13" name="BENCH_INSIGHT_CARD"/>
          <p:cNvSpPr/>
          <p:nvPr/>
        </p:nvSpPr>
        <p:spPr>
          <a:xfrm>
            <a:off x="4590288" y="1744675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4590288" y="1744675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BODY"/>
          <p:cNvSpPr txBox="1"/>
          <p:nvPr/>
        </p:nvSpPr>
        <p:spPr>
          <a:xfrm>
            <a:off x="4791455" y="1890979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4년 누적 현금흐름 110억 원 달성</a:t>
            </a:r>
          </a:p>
        </p:txBody>
      </p:sp>
      <p:sp>
        <p:nvSpPr>
          <p:cNvPr id="16" name="BENCH_INSIGHT_CARD"/>
          <p:cNvSpPr/>
          <p:nvPr/>
        </p:nvSpPr>
        <p:spPr>
          <a:xfrm>
            <a:off x="4590288" y="3061411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DECOR"/>
          <p:cNvSpPr/>
          <p:nvPr/>
        </p:nvSpPr>
        <p:spPr>
          <a:xfrm>
            <a:off x="4590288" y="3061411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BODY"/>
          <p:cNvSpPr txBox="1"/>
          <p:nvPr/>
        </p:nvSpPr>
        <p:spPr>
          <a:xfrm>
            <a:off x="4791455" y="3207715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회수 기간 3.29년으로 산업 평균 하회</a:t>
            </a:r>
          </a:p>
        </p:txBody>
      </p:sp>
      <p:sp>
        <p:nvSpPr>
          <p:cNvPr id="19" name="BENCH_INSIGHT_CARD"/>
          <p:cNvSpPr/>
          <p:nvPr/>
        </p:nvSpPr>
        <p:spPr>
          <a:xfrm>
            <a:off x="4590288" y="4378147"/>
            <a:ext cx="693115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DECOR"/>
          <p:cNvSpPr/>
          <p:nvPr/>
        </p:nvSpPr>
        <p:spPr>
          <a:xfrm>
            <a:off x="4590288" y="4378147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ENCH_BODY"/>
          <p:cNvSpPr txBox="1"/>
          <p:nvPr/>
        </p:nvSpPr>
        <p:spPr>
          <a:xfrm>
            <a:off x="4791455" y="4524451"/>
            <a:ext cx="6583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파일럿 확장성 검증이 성패의 핵심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