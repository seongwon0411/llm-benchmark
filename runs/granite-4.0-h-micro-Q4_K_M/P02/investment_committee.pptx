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Cash Inflow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500000.0</c:v>
                </c:pt>
                <c:pt idx="1">
                  <c:v>750000.0</c:v>
                </c:pt>
                <c:pt idx="2">
                  <c:v>2250000.0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Cumulative Cash Flow</c:v>
                </c:pt>
              </c:strCache>
            </c:strRef>
          </c:tx>
          <c:spPr>
            <a:solidFill>
              <a:srgbClr val="00A6A6"/>
            </a:solidFill>
            <a:ln>
              <a:solidFill>
                <a:srgbClr val="00A6A6"/>
              </a:solidFill>
            </a:ln>
          </c:spPr>
          <c:cat>
            <c:strRef>
              <c:f>Sheet1!$A$2:$A$4</c:f>
              <c:strCache>
                <c:ptCount val="3"/>
                <c:pt idx="0">
                  <c:v>Year 1</c:v>
                </c:pt>
                <c:pt idx="1">
                  <c:v>Year 2</c:v>
                </c:pt>
                <c:pt idx="2">
                  <c:v>Year 3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500000.0</c:v>
                </c:pt>
                <c:pt idx="1">
                  <c:v>1250000.0</c:v>
                </c:pt>
                <c:pt idx="2">
                  <c:v>2250000.0</c:v>
                </c:pt>
              </c:numCache>
            </c:numRef>
          </c:val>
        </c:ser>
        <c:dLbls>
          <c:txPr>
            <a:bodyPr/>
            <a:lstStyle/>
            <a:p>
              <a:pPr>
                <a:defRPr sz="85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-2068027336"/>
        <c:crosses val="autoZero"/>
      </c:valAx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style val="10"/>
  <c:chart>
    <c:autoTitleDeleted val="0"/>
    <c:plotArea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Market</c:v>
                </c:pt>
              </c:strCache>
            </c:strRef>
          </c:tx>
          <c:spPr>
            <a:solidFill>
              <a:srgbClr val="2F6BFF"/>
            </a:solidFill>
            <a:ln>
              <a:solidFill>
                <a:srgbClr val="2F6BFF"/>
              </a:solidFill>
            </a:ln>
          </c:spPr>
          <c:cat>
            <c:strRef>
              <c:f>Sheet1!$A$2:$A$3</c:f>
              <c:strCache>
                <c:ptCount val="2"/>
                <c:pt idx="0">
                  <c:v>Market</c:v>
                </c:pt>
                <c:pt idx="1">
                  <c:v>Operational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30.0</c:v>
                </c:pt>
                <c:pt idx="1">
                  <c:v>0.0</c:v>
                </c:pt>
              </c:numCache>
            </c:numRef>
          </c:val>
        </c:ser>
        <c:dLbls>
          <c:txPr>
            <a:bodyPr/>
            <a:lstStyle/>
            <a:p>
              <a:pPr>
                <a:defRPr sz="900"/>
              </a:pPr>
            </a:p>
          </c:txPr>
          <c:dLblPos val="bestFit"/>
          <c:showLegendKey val="0"/>
          <c:showVal val="1"/>
          <c:showCatName val="0"/>
          <c:showSerName val="0"/>
          <c:showPercent val="0"/>
          <c:showBubbleSize val="0"/>
          <c:showLeaderLines val="1"/>
        </c:dLbls>
      </c:pieChart>
    </c:plotArea>
    <c:legend>
      <c:legendPos val="b"/>
      <c:txPr>
        <a:bodyPr/>
        <a:lstStyle/>
        <a:p>
          <a:pPr>
            <a:defRPr sz="900"/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style val="10"/>
  <c:chart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Brief.md</c:v>
                </c:pt>
              </c:strCache>
            </c:strRef>
          </c:tx>
          <c:spPr>
            <a:solidFill>
              <a:srgbClr val="2F6BFF"/>
            </a:solidFill>
            <a:ln w="28575">
              <a:solidFill>
                <a:srgbClr val="2F6BFF"/>
              </a:solidFill>
            </a:ln>
          </c:spPr>
          <c:marker>
            <c:symbol val="circle"/>
            <c:size val="6"/>
          </c:marker>
          <c:cat>
            <c:strRef>
              <c:f>Sheet1!$A$2:$A$2</c:f>
              <c:strCache>
                <c:ptCount val="1"/>
                <c:pt idx="0">
                  <c:v>Source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1.0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Investment Case</c:v>
                </c:pt>
              </c:strCache>
            </c:strRef>
          </c:tx>
          <c:spPr>
            <a:solidFill>
              <a:srgbClr val="00A6A6"/>
            </a:solidFill>
            <a:ln w="28575">
              <a:solidFill>
                <a:srgbClr val="00A6A6"/>
              </a:solidFill>
            </a:ln>
          </c:spPr>
          <c:marker>
            <c:symbol val="circle"/>
            <c:size val="6"/>
          </c:marker>
          <c:cat>
            <c:strRef>
              <c:f>Sheet1!$A$2:$A$2</c:f>
              <c:strCache>
                <c:ptCount val="1"/>
                <c:pt idx="0">
                  <c:v>Source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3.0</c:v>
                </c:pt>
              </c:numCache>
            </c:numRef>
          </c:val>
          <c:smooth val="0"/>
        </c:ser>
        <c:dLbls>
          <c:txPr>
            <a:bodyPr/>
            <a:lstStyle/>
            <a:p>
              <a:pPr>
                <a:defRPr sz="850"/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9E1EA"/>
              </a:solidFill>
            </a:ln>
          </c:spPr>
        </c:majorGridlines>
        <c:majorTickMark val="out"/>
        <c:minorTickMark val="none"/>
        <c:tickLblPos val="nextTo"/>
        <c:spPr>
          <a:ln>
            <a:solidFill>
              <a:srgbClr val="AAB7C6"/>
            </a:solidFill>
          </a:ln>
        </c:spPr>
        <c:txPr>
          <a:bodyPr/>
          <a:lstStyle/>
          <a:p>
            <a:pPr>
              <a:defRPr sz="900"/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900"/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Executive Summary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Investment Opportunity Overview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1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The project offers a 12% IRR with a payback period of 3 years, meeting our return criteria.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Key opportunity identified in brief.md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1855683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1855683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2001987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High growth market potential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172419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172419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318723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Strong competitive advantage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Financial Overview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Cash Flow Analysis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2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Projected cash flows demonstrate strong profitability and liquidity.</a:t>
            </a:r>
          </a:p>
        </p:txBody>
      </p:sp>
      <p:sp>
        <p:nvSpPr>
          <p:cNvPr id="10" name="BENCH_BODY"/>
          <p:cNvSpPr txBox="1"/>
          <p:nvPr/>
        </p:nvSpPr>
        <p:spPr>
          <a:xfrm>
            <a:off x="658368" y="1773936"/>
            <a:ext cx="10863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Year 1: $500k inflow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Year 2: $750k inflow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Cumulative cash flow by Year 3: $2.25M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658368" y="2596896"/>
          <a:ext cx="5577840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BENCH_TABLE"/>
          <p:cNvGraphicFramePr>
            <a:graphicFrameLocks noGrp="1"/>
          </p:cNvGraphicFramePr>
          <p:nvPr/>
        </p:nvGraphicFramePr>
        <p:xfrm>
          <a:off x="6419088" y="2596896"/>
          <a:ext cx="510235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2551176"/>
              </a:tblGrid>
              <a:tr h="121310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$500k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1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  <a:tr h="121310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$750k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Year 2</a:t>
                      </a:r>
                    </a:p>
                  </a:txBody>
                  <a:tcPr marL="91440" marR="91440" marT="54864" marB="54864">
                    <a:solidFill>
                      <a:srgbClr val="FFFFFF"/>
                    </a:solidFill>
                  </a:tcPr>
                </a:tc>
              </a:tr>
              <a:tr h="1213104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$2.25M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Cumulative by Year 3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Risk Assessment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Identified Risks and Mitigations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3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Key risks are mitigated through strategic controls.</a:t>
            </a:r>
          </a:p>
        </p:txBody>
      </p:sp>
      <p:sp>
        <p:nvSpPr>
          <p:cNvPr id="10" name="BENCH_INSIGHT_CARD"/>
          <p:cNvSpPr/>
          <p:nvPr/>
        </p:nvSpPr>
        <p:spPr>
          <a:xfrm>
            <a:off x="658368" y="1776679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OR"/>
          <p:cNvSpPr/>
          <p:nvPr/>
        </p:nvSpPr>
        <p:spPr>
          <a:xfrm>
            <a:off x="658368" y="1776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BODY"/>
          <p:cNvSpPr txBox="1"/>
          <p:nvPr/>
        </p:nvSpPr>
        <p:spPr>
          <a:xfrm>
            <a:off x="859536" y="1922983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Market Risk: Diversified customer base mitigates volatility</a:t>
            </a:r>
          </a:p>
        </p:txBody>
      </p:sp>
      <p:sp>
        <p:nvSpPr>
          <p:cNvPr id="13" name="BENCH_INSIGHT_CARD"/>
          <p:cNvSpPr/>
          <p:nvPr/>
        </p:nvSpPr>
        <p:spPr>
          <a:xfrm>
            <a:off x="658368" y="3093415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BENCH_DECOR"/>
          <p:cNvSpPr/>
          <p:nvPr/>
        </p:nvSpPr>
        <p:spPr>
          <a:xfrm>
            <a:off x="658368" y="3093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BODY"/>
          <p:cNvSpPr txBox="1"/>
          <p:nvPr/>
        </p:nvSpPr>
        <p:spPr>
          <a:xfrm>
            <a:off x="859536" y="3239719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Operational Risk: Contingency plans in place</a:t>
            </a:r>
          </a:p>
        </p:txBody>
      </p:sp>
      <p:sp>
        <p:nvSpPr>
          <p:cNvPr id="16" name="BENCH_INSIGHT_CARD"/>
          <p:cNvSpPr/>
          <p:nvPr/>
        </p:nvSpPr>
        <p:spPr>
          <a:xfrm>
            <a:off x="658368" y="4410151"/>
            <a:ext cx="10863072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BENCH_DECOR"/>
          <p:cNvSpPr/>
          <p:nvPr/>
        </p:nvSpPr>
        <p:spPr>
          <a:xfrm>
            <a:off x="658368" y="4410151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BODY"/>
          <p:cNvSpPr txBox="1"/>
          <p:nvPr/>
        </p:nvSpPr>
        <p:spPr>
          <a:xfrm>
            <a:off x="859536" y="4556455"/>
            <a:ext cx="105156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0">
                <a:solidFill>
                  <a:srgbClr val="172033"/>
                </a:solidFill>
                <a:latin typeface="Malgun Gothic"/>
              </a:rPr>
              <a:t>Financial Risk: Conservative budgeting limits exposure</a:t>
            </a:r>
          </a:p>
        </p:txBody>
      </p:sp>
      <p:sp>
        <p:nvSpPr>
          <p:cNvPr id="19" name="BENCH_CALLOUT_BG"/>
          <p:cNvSpPr/>
          <p:nvPr/>
        </p:nvSpPr>
        <p:spPr>
          <a:xfrm>
            <a:off x="658368" y="5779008"/>
            <a:ext cx="10863072" cy="475488"/>
          </a:xfrm>
          <a:prstGeom prst="roundRect">
            <a:avLst/>
          </a:prstGeom>
          <a:solidFill>
            <a:srgbClr val="0B1F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BENCH_CALLOUT"/>
          <p:cNvSpPr txBox="1"/>
          <p:nvPr/>
        </p:nvSpPr>
        <p:spPr>
          <a:xfrm>
            <a:off x="868680" y="5879592"/>
            <a:ext cx="10442448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algun Gothic"/>
              </a:rPr>
              <a:t>Detailed risk analysis in brief.md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Risk Mitigation Plan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Actionable Controls for Risks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4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Specific controls are implemented to address each identified risk.</a:t>
            </a:r>
          </a:p>
        </p:txBody>
      </p:sp>
      <p:sp>
        <p:nvSpPr>
          <p:cNvPr id="10" name="BENCH_BODY"/>
          <p:cNvSpPr txBox="1"/>
          <p:nvPr/>
        </p:nvSpPr>
        <p:spPr>
          <a:xfrm>
            <a:off x="658368" y="1773936"/>
            <a:ext cx="10863072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Market Risk: Quarterly market review process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Operational Risk: Backup systems and training programs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350" b="0">
                <a:solidFill>
                  <a:srgbClr val="172033"/>
                </a:solidFill>
                <a:latin typeface="Malgun Gothic"/>
              </a:rPr>
              <a:t>• Financial Risk: Contingency fund of 10% allocated</a:t>
            </a:r>
          </a:p>
        </p:txBody>
      </p:sp>
      <p:graphicFrame>
        <p:nvGraphicFramePr>
          <p:cNvPr id="11" name="BENCH_CHART"/>
          <p:cNvGraphicFramePr>
            <a:graphicFrameLocks noGrp="1"/>
          </p:cNvGraphicFramePr>
          <p:nvPr/>
        </p:nvGraphicFramePr>
        <p:xfrm>
          <a:off x="658368" y="2596896"/>
          <a:ext cx="5577840" cy="363931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12" name="BENCH_TABLE"/>
          <p:cNvGraphicFramePr>
            <a:graphicFrameLocks noGrp="1"/>
          </p:cNvGraphicFramePr>
          <p:nvPr/>
        </p:nvGraphicFramePr>
        <p:xfrm>
          <a:off x="6419088" y="2596896"/>
          <a:ext cx="5102352" cy="36393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1176"/>
                <a:gridCol w="1275588"/>
                <a:gridCol w="1275588"/>
              </a:tblGrid>
              <a:tr h="3639312"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40%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l"/>
                      <a:r>
                        <a:rPr sz="1200" b="0">
                          <a:solidFill>
                            <a:srgbClr val="172033"/>
                          </a:solidFill>
                          <a:latin typeface="Malgun Gothic"/>
                        </a:rPr>
                        <a:t>30%</a:t>
                      </a:r>
                    </a:p>
                  </a:txBody>
                  <a:tcPr marL="91440" marR="91440" marT="54864" marB="54864"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Conclusion &amp; Recommendation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Final Investment Decision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5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Based on robust financials and mitigated risks, the committee is recommended to approve the investment.</a:t>
            </a:r>
          </a:p>
        </p:txBody>
      </p:sp>
      <p:sp>
        <p:nvSpPr>
          <p:cNvPr id="10" name="BENCH_DECISION_CARD"/>
          <p:cNvSpPr/>
          <p:nvPr/>
        </p:nvSpPr>
        <p:spPr>
          <a:xfrm>
            <a:off x="7955279" y="1773936"/>
            <a:ext cx="3566160" cy="2084831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DECISION_ACCENT"/>
          <p:cNvSpPr/>
          <p:nvPr/>
        </p:nvSpPr>
        <p:spPr>
          <a:xfrm>
            <a:off x="7955279" y="1773936"/>
            <a:ext cx="73152" cy="2084831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ENCH_DECISION_LABEL"/>
          <p:cNvSpPr txBox="1"/>
          <p:nvPr/>
        </p:nvSpPr>
        <p:spPr>
          <a:xfrm>
            <a:off x="8229600" y="1956816"/>
            <a:ext cx="2880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1">
                <a:solidFill>
                  <a:srgbClr val="D97706"/>
                </a:solidFill>
                <a:latin typeface="Malgun Gothic"/>
              </a:rPr>
              <a:t>DECISION</a:t>
            </a:r>
          </a:p>
        </p:txBody>
      </p:sp>
      <p:sp>
        <p:nvSpPr>
          <p:cNvPr id="13" name="BENCH_DECISION"/>
          <p:cNvSpPr txBox="1"/>
          <p:nvPr/>
        </p:nvSpPr>
        <p:spPr>
          <a:xfrm>
            <a:off x="8229600" y="2295144"/>
            <a:ext cx="2880360" cy="12618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700" b="1">
                <a:solidFill>
                  <a:srgbClr val="0B1F33"/>
                </a:solidFill>
                <a:latin typeface="Malgun Gothic"/>
              </a:rPr>
              <a:t>All analysis grounded in brief.md and investment_case.xlsx data</a:t>
            </a:r>
          </a:p>
        </p:txBody>
      </p:sp>
      <p:sp>
        <p:nvSpPr>
          <p:cNvPr id="14" name="BENCH_INSIGHT_CARD"/>
          <p:cNvSpPr/>
          <p:nvPr/>
        </p:nvSpPr>
        <p:spPr>
          <a:xfrm>
            <a:off x="658368" y="1776679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ENCH_DECOR"/>
          <p:cNvSpPr/>
          <p:nvPr/>
        </p:nvSpPr>
        <p:spPr>
          <a:xfrm>
            <a:off x="658368" y="1776679"/>
            <a:ext cx="54864" cy="117043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BENCH_BODY"/>
          <p:cNvSpPr txBox="1"/>
          <p:nvPr/>
        </p:nvSpPr>
        <p:spPr>
          <a:xfrm>
            <a:off x="859536" y="1922983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Clear IRR and payback metrics</a:t>
            </a:r>
          </a:p>
        </p:txBody>
      </p:sp>
      <p:sp>
        <p:nvSpPr>
          <p:cNvPr id="17" name="BENCH_INSIGHT_CARD"/>
          <p:cNvSpPr/>
          <p:nvPr/>
        </p:nvSpPr>
        <p:spPr>
          <a:xfrm>
            <a:off x="658368" y="3093415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ENCH_DECOR"/>
          <p:cNvSpPr/>
          <p:nvPr/>
        </p:nvSpPr>
        <p:spPr>
          <a:xfrm>
            <a:off x="658368" y="3093415"/>
            <a:ext cx="54864" cy="1170432"/>
          </a:xfrm>
          <a:prstGeom prst="rect">
            <a:avLst/>
          </a:prstGeom>
          <a:solidFill>
            <a:srgbClr val="00A6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BENCH_BODY"/>
          <p:cNvSpPr txBox="1"/>
          <p:nvPr/>
        </p:nvSpPr>
        <p:spPr>
          <a:xfrm>
            <a:off x="859536" y="3239719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Mitigated key risks</a:t>
            </a:r>
          </a:p>
        </p:txBody>
      </p:sp>
      <p:sp>
        <p:nvSpPr>
          <p:cNvPr id="20" name="BENCH_INSIGHT_CARD"/>
          <p:cNvSpPr/>
          <p:nvPr/>
        </p:nvSpPr>
        <p:spPr>
          <a:xfrm>
            <a:off x="658368" y="4410151"/>
            <a:ext cx="6967728" cy="117043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ENCH_DECOR"/>
          <p:cNvSpPr/>
          <p:nvPr/>
        </p:nvSpPr>
        <p:spPr>
          <a:xfrm>
            <a:off x="658368" y="4410151"/>
            <a:ext cx="54864" cy="1170432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ENCH_BODY"/>
          <p:cNvSpPr txBox="1"/>
          <p:nvPr/>
        </p:nvSpPr>
        <p:spPr>
          <a:xfrm>
            <a:off x="859536" y="4556455"/>
            <a:ext cx="6620256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400" b="0">
                <a:solidFill>
                  <a:srgbClr val="172033"/>
                </a:solidFill>
                <a:latin typeface="Malgun Gothic"/>
              </a:rPr>
              <a:t>Strategic alignment with corporate goals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ENCH_BACKGROUND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ENCH_DECOR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2F6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ENCH_TITLE"/>
          <p:cNvSpPr txBox="1"/>
          <p:nvPr/>
        </p:nvSpPr>
        <p:spPr>
          <a:xfrm>
            <a:off x="621792" y="292608"/>
            <a:ext cx="108356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500" b="1">
                <a:solidFill>
                  <a:srgbClr val="0B1F33"/>
                </a:solidFill>
                <a:latin typeface="Malgun Gothic"/>
              </a:rPr>
              <a:t>Appendix</a:t>
            </a:r>
          </a:p>
        </p:txBody>
      </p:sp>
      <p:sp>
        <p:nvSpPr>
          <p:cNvPr id="5" name="BENCH_SUBTITLE"/>
          <p:cNvSpPr txBox="1"/>
          <p:nvPr/>
        </p:nvSpPr>
        <p:spPr>
          <a:xfrm>
            <a:off x="640080" y="749808"/>
            <a:ext cx="10744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67085"/>
                </a:solidFill>
                <a:latin typeface="Malgun Gothic"/>
              </a:rPr>
              <a:t>Data Sources &amp; Methodology</a:t>
            </a:r>
          </a:p>
        </p:txBody>
      </p:sp>
      <p:sp>
        <p:nvSpPr>
          <p:cNvPr id="6" name="BENCH_DECOR"/>
          <p:cNvSpPr/>
          <p:nvPr/>
        </p:nvSpPr>
        <p:spPr>
          <a:xfrm>
            <a:off x="621792" y="6446520"/>
            <a:ext cx="10927080" cy="18288"/>
          </a:xfrm>
          <a:prstGeom prst="rect">
            <a:avLst/>
          </a:prstGeom>
          <a:solidFill>
            <a:srgbClr val="D9E1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BENCH_PAGE"/>
          <p:cNvSpPr txBox="1"/>
          <p:nvPr/>
        </p:nvSpPr>
        <p:spPr>
          <a:xfrm>
            <a:off x="11228832" y="6492240"/>
            <a:ext cx="32004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667085"/>
                </a:solidFill>
                <a:latin typeface="Malgun Gothic"/>
              </a:rPr>
              <a:t>6</a:t>
            </a:r>
          </a:p>
        </p:txBody>
      </p:sp>
      <p:sp>
        <p:nvSpPr>
          <p:cNvPr id="8" name="BENCH_TAKEAWAY_BG"/>
          <p:cNvSpPr/>
          <p:nvPr/>
        </p:nvSpPr>
        <p:spPr>
          <a:xfrm>
            <a:off x="621792" y="1115568"/>
            <a:ext cx="10927080" cy="53035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ENCH_TAKEAWAY"/>
          <p:cNvSpPr txBox="1"/>
          <p:nvPr/>
        </p:nvSpPr>
        <p:spPr>
          <a:xfrm>
            <a:off x="841248" y="1197864"/>
            <a:ext cx="10469880" cy="34747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500" b="1">
                <a:solidFill>
                  <a:srgbClr val="0B1F33"/>
                </a:solidFill>
                <a:latin typeface="Malgun Gothic"/>
              </a:rPr>
              <a:t>Full data provenance provided for transparency.</a:t>
            </a:r>
          </a:p>
        </p:txBody>
      </p:sp>
      <p:sp>
        <p:nvSpPr>
          <p:cNvPr id="10" name="BENCH_CARD"/>
          <p:cNvSpPr/>
          <p:nvPr/>
        </p:nvSpPr>
        <p:spPr>
          <a:xfrm>
            <a:off x="658368" y="1773936"/>
            <a:ext cx="3200400" cy="4462272"/>
          </a:xfrm>
          <a:prstGeom prst="roundRect">
            <a:avLst/>
          </a:prstGeom>
          <a:solidFill>
            <a:srgbClr val="FAFBFC"/>
          </a:solidFill>
          <a:ln w="12700">
            <a:solidFill>
              <a:srgbClr val="D9E1E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BENCH_BODY"/>
          <p:cNvSpPr txBox="1"/>
          <p:nvPr/>
        </p:nvSpPr>
        <p:spPr>
          <a:xfrm>
            <a:off x="859536" y="1901952"/>
            <a:ext cx="2798064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Brief.md contains market assumptions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sz="1450" b="0">
                <a:solidFill>
                  <a:srgbClr val="172033"/>
                </a:solidFill>
                <a:latin typeface="Malgun Gothic"/>
              </a:rPr>
              <a:t>• investment_case.xlsx provides cash flow details</a:t>
            </a:r>
          </a:p>
        </p:txBody>
      </p:sp>
      <p:graphicFrame>
        <p:nvGraphicFramePr>
          <p:cNvPr id="12" name="BENCH_CHART"/>
          <p:cNvGraphicFramePr>
            <a:graphicFrameLocks noGrp="1"/>
          </p:cNvGraphicFramePr>
          <p:nvPr/>
        </p:nvGraphicFramePr>
        <p:xfrm>
          <a:off x="4069080" y="1773936"/>
          <a:ext cx="7452360" cy="4462272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