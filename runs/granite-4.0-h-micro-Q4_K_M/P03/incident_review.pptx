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Service Uptime (%)</c:v>
                </c:pt>
              </c:strCache>
            </c:strRef>
          </c:tx>
          <c:spPr>
            <a:solidFill>
              <a:srgbClr val="2F6BFF"/>
            </a:solidFill>
            <a:ln w="28575">
              <a:solidFill>
                <a:srgbClr val="2F6BFF"/>
              </a:solidFill>
            </a:ln>
          </c:spPr>
          <c:marker>
            <c:symbol val="circle"/>
            <c:size val="6"/>
          </c:marker>
          <c:cat>
            <c:strRef>
              <c:f>Sheet1!$A$2:$A$4</c:f>
              <c:strCache>
                <c:ptCount val="3"/>
                <c:pt idx="0">
                  <c:v>시작</c:v>
                </c:pt>
                <c:pt idx="1">
                  <c:v>중간</c:v>
                </c:pt>
                <c:pt idx="2">
                  <c:v>종료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100.0</c:v>
                </c:pt>
                <c:pt idx="1">
                  <c:v>70.0</c:v>
                </c:pt>
                <c:pt idx="2">
                  <c:v>100.0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85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9E1E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사건 타임라인</a:t>
            </a:r>
          </a:p>
        </p:txBody>
      </p:sp>
      <p:sp>
        <p:nvSpPr>
          <p:cNvPr id="5" name="BENCH_SUBTITLE"/>
          <p:cNvSpPr txBox="1"/>
          <p:nvPr/>
        </p:nvSpPr>
        <p:spPr>
          <a:xfrm>
            <a:off x="640080" y="749808"/>
            <a:ext cx="10744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Incident Timeline</a:t>
            </a:r>
          </a:p>
        </p:txBody>
      </p:sp>
      <p:sp>
        <p:nvSpPr>
          <p:cNvPr id="6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1</a:t>
            </a:r>
          </a:p>
        </p:txBody>
      </p:sp>
      <p:sp>
        <p:nvSpPr>
          <p:cNvPr id="8" name="BENCH_TAKEAWAY_BG"/>
          <p:cNvSpPr/>
          <p:nvPr/>
        </p:nvSpPr>
        <p:spPr>
          <a:xfrm>
            <a:off x="621792" y="1115568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TAKEAWAY"/>
          <p:cNvSpPr txBox="1"/>
          <p:nvPr/>
        </p:nvSpPr>
        <p:spPr>
          <a:xfrm>
            <a:off x="841248" y="1197864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사건은 2025년 3월 15일 오전 10시에 발생하여 2시간 동안 영향을 미쳤습니다.</a:t>
            </a:r>
          </a:p>
        </p:txBody>
      </p:sp>
      <p:sp>
        <p:nvSpPr>
          <p:cNvPr id="10" name="BENCH_CARD"/>
          <p:cNvSpPr/>
          <p:nvPr/>
        </p:nvSpPr>
        <p:spPr>
          <a:xfrm>
            <a:off x="658368" y="1773936"/>
            <a:ext cx="3200400" cy="446227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BODY"/>
          <p:cNvSpPr txBox="1"/>
          <p:nvPr/>
        </p:nvSpPr>
        <p:spPr>
          <a:xfrm>
            <a:off x="859536" y="1901952"/>
            <a:ext cx="279806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50" b="0">
                <a:solidFill>
                  <a:srgbClr val="172033"/>
                </a:solidFill>
                <a:latin typeface="Malgun Gothic"/>
              </a:rPr>
              <a:t>• 2025-03-15 10:00: 사건 발생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50" b="0">
                <a:solidFill>
                  <a:srgbClr val="172033"/>
                </a:solidFill>
                <a:latin typeface="Malgun Gothic"/>
              </a:rPr>
              <a:t>• 2시간 동안 서비스 점유율 감소</a:t>
            </a:r>
          </a:p>
        </p:txBody>
      </p:sp>
      <p:graphicFrame>
        <p:nvGraphicFramePr>
          <p:cNvPr id="12" name="BENCH_CHART"/>
          <p:cNvGraphicFramePr>
            <a:graphicFrameLocks noGrp="1"/>
          </p:cNvGraphicFramePr>
          <p:nvPr/>
        </p:nvGraphicFramePr>
        <p:xfrm>
          <a:off x="4069080" y="1773936"/>
          <a:ext cx="7452360" cy="44622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