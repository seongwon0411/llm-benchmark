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Defect Rate (pilot)</c:v>
                </c:pt>
              </c:strCache>
            </c:strRef>
          </c:tx>
          <c:spPr>
            <a:solidFill>
              <a:srgbClr val="2F6BFF"/>
            </a:solidFill>
            <a:ln w="28575">
              <a:solidFill>
                <a:srgbClr val="2F6BFF"/>
              </a:solidFill>
            </a:ln>
          </c:spPr>
          <c:marker>
            <c:symbol val="circle"/>
            <c:size val="6"/>
          </c:marker>
          <c:cat>
            <c:strRef>
              <c:f>Sheet1!$A$2:$A$3</c:f>
              <c:strCache>
                <c:ptCount val="2"/>
                <c:pt idx="0">
                  <c:v>2025</c:v>
                </c:pt>
                <c:pt idx="1">
                  <c:v>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5.0</c:v>
                </c:pt>
                <c:pt idx="1">
                  <c:v>3.1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Projected Defect Rate (full rollout)</c:v>
                </c:pt>
              </c:strCache>
            </c:strRef>
          </c:tx>
          <c:spPr>
            <a:solidFill>
              <a:srgbClr val="00A6A6"/>
            </a:solidFill>
            <a:ln w="28575">
              <a:solidFill>
                <a:srgbClr val="00A6A6"/>
              </a:solidFill>
            </a:ln>
          </c:spPr>
          <c:marker>
            <c:symbol val="circle"/>
            <c:size val="6"/>
          </c:marker>
          <c:cat>
            <c:strRef>
              <c:f>Sheet1!$A$2:$A$3</c:f>
              <c:strCache>
                <c:ptCount val="2"/>
                <c:pt idx="0">
                  <c:v>2025</c:v>
                </c:pt>
                <c:pt idx="1">
                  <c:v>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4.8</c:v>
                </c:pt>
                <c:pt idx="1">
                  <c:v>2.9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85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9E1EA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DECOR"/>
          <p:cNvSpPr/>
          <p:nvPr/>
        </p:nvSpPr>
        <p:spPr>
          <a:xfrm>
            <a:off x="731520" y="1298448"/>
            <a:ext cx="91440" cy="25146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ENCH_TITLE"/>
          <p:cNvSpPr txBox="1"/>
          <p:nvPr/>
        </p:nvSpPr>
        <p:spPr>
          <a:xfrm>
            <a:off x="1115568" y="1481328"/>
            <a:ext cx="978408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Malgun Gothic"/>
              </a:rPr>
              <a:t>Review of AI Inspection System Performance</a:t>
            </a:r>
          </a:p>
        </p:txBody>
      </p:sp>
      <p:sp>
        <p:nvSpPr>
          <p:cNvPr id="6" name="BENCH_SUBTITLE"/>
          <p:cNvSpPr txBox="1"/>
          <p:nvPr/>
        </p:nvSpPr>
        <p:spPr>
          <a:xfrm>
            <a:off x="1143000" y="2724912"/>
            <a:ext cx="9326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D6E0EA"/>
                </a:solidFill>
                <a:latin typeface="Malgun Gothic"/>
              </a:rPr>
              <a:t>Key Issues &amp; Recommendations</a:t>
            </a:r>
          </a:p>
        </p:txBody>
      </p:sp>
      <p:sp>
        <p:nvSpPr>
          <p:cNvPr id="7" name="BENCH_COVER_TAKEAWAY_BG"/>
          <p:cNvSpPr/>
          <p:nvPr/>
        </p:nvSpPr>
        <p:spPr>
          <a:xfrm>
            <a:off x="1115568" y="3547872"/>
            <a:ext cx="9464040" cy="960120"/>
          </a:xfrm>
          <a:prstGeom prst="roundRect">
            <a:avLst/>
          </a:prstGeom>
          <a:solidFill>
            <a:srgbClr val="13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1389888" y="3767328"/>
            <a:ext cx="8915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E7EEF7"/>
                </a:solidFill>
                <a:latin typeface="Malgun Gothic"/>
              </a:rPr>
              <a:t>AI inspection must be validated before full rollout; current report contains critical errors.</a:t>
            </a:r>
          </a:p>
        </p:txBody>
      </p:sp>
      <p:sp>
        <p:nvSpPr>
          <p:cNvPr id="9" name="BENCH_BODY"/>
          <p:cNvSpPr txBox="1"/>
          <p:nvPr/>
        </p:nvSpPr>
        <p:spPr>
          <a:xfrm>
            <a:off x="1143000" y="4983480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AFC0D2"/>
                </a:solidFill>
                <a:latin typeface="Malgun Gothic"/>
              </a:rPr>
              <a:t>Incorrect overall defect rate (5.0% vs 3.1%) due to missing non-pilot data.  •  Lack of comparative metrics prevents assessing claimed '50%+ reduction'.  •  Unverified cost savings without ROI model.</a:t>
            </a:r>
          </a:p>
        </p:txBody>
      </p:sp>
      <p:sp>
        <p:nvSpPr>
          <p:cNvPr id="10" name="BENCH_COVER_TAG"/>
          <p:cNvSpPr txBox="1"/>
          <p:nvPr/>
        </p:nvSpPr>
        <p:spPr>
          <a:xfrm>
            <a:off x="1143000" y="59893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7FA6FF"/>
                </a:solidFill>
                <a:latin typeface="Malgun Gothic"/>
              </a:rPr>
              <a:t>DECISION BRIEF</a:t>
            </a:r>
          </a:p>
        </p:txBody>
      </p:sp>
      <p:sp>
        <p:nvSpPr>
          <p:cNvPr id="11" name="BENCH_PAGE"/>
          <p:cNvSpPr txBox="1"/>
          <p:nvPr/>
        </p:nvSpPr>
        <p:spPr>
          <a:xfrm>
            <a:off x="11228832" y="6473952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AB7C6"/>
                </a:solidFill>
                <a:latin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Decision Needed</a:t>
            </a:r>
          </a:p>
        </p:txBody>
      </p:sp>
      <p:sp>
        <p:nvSpPr>
          <p:cNvPr id="5" name="BENCH_SUBTITLE"/>
          <p:cNvSpPr txBox="1"/>
          <p:nvPr/>
        </p:nvSpPr>
        <p:spPr>
          <a:xfrm>
            <a:off x="640080" y="749808"/>
            <a:ext cx="10744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Approve Validation Plan?</a:t>
            </a:r>
          </a:p>
        </p:txBody>
      </p:sp>
      <p:sp>
        <p:nvSpPr>
          <p:cNvPr id="6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2</a:t>
            </a:r>
          </a:p>
        </p:txBody>
      </p:sp>
      <p:sp>
        <p:nvSpPr>
          <p:cNvPr id="8" name="BENCH_TAKEAWAY_BG"/>
          <p:cNvSpPr/>
          <p:nvPr/>
        </p:nvSpPr>
        <p:spPr>
          <a:xfrm>
            <a:off x="621792" y="1115568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ENCH_TAKEAWAY"/>
          <p:cNvSpPr txBox="1"/>
          <p:nvPr/>
        </p:nvSpPr>
        <p:spPr>
          <a:xfrm>
            <a:off x="841248" y="1197864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Proceed only after addressing issues outlined in review.md.</a:t>
            </a:r>
          </a:p>
        </p:txBody>
      </p:sp>
      <p:sp>
        <p:nvSpPr>
          <p:cNvPr id="10" name="BENCH_DECISION_CARD"/>
          <p:cNvSpPr/>
          <p:nvPr/>
        </p:nvSpPr>
        <p:spPr>
          <a:xfrm>
            <a:off x="7955279" y="1773936"/>
            <a:ext cx="3566160" cy="2084831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DECISION_ACCENT"/>
          <p:cNvSpPr/>
          <p:nvPr/>
        </p:nvSpPr>
        <p:spPr>
          <a:xfrm>
            <a:off x="7955279" y="1773936"/>
            <a:ext cx="73152" cy="2084831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ENCH_DECISION_LABEL"/>
          <p:cNvSpPr txBox="1"/>
          <p:nvPr/>
        </p:nvSpPr>
        <p:spPr>
          <a:xfrm>
            <a:off x="8229600" y="1956816"/>
            <a:ext cx="2880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97706"/>
                </a:solidFill>
                <a:latin typeface="Malgun Gothic"/>
              </a:rPr>
              <a:t>DECISION</a:t>
            </a:r>
          </a:p>
        </p:txBody>
      </p:sp>
      <p:sp>
        <p:nvSpPr>
          <p:cNvPr id="13" name="BENCH_DECISION"/>
          <p:cNvSpPr txBox="1"/>
          <p:nvPr/>
        </p:nvSpPr>
        <p:spPr>
          <a:xfrm>
            <a:off x="8229600" y="2295144"/>
            <a:ext cx="2880360" cy="1261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0B1F33"/>
                </a:solidFill>
                <a:latin typeface="Malgun Gothic"/>
              </a:rPr>
              <a:t>Proceed only after addressing issues outlined in review.md.</a:t>
            </a:r>
          </a:p>
        </p:txBody>
      </p:sp>
      <p:sp>
        <p:nvSpPr>
          <p:cNvPr id="14" name="BENCH_INSIGHT_CARD"/>
          <p:cNvSpPr/>
          <p:nvPr/>
        </p:nvSpPr>
        <p:spPr>
          <a:xfrm>
            <a:off x="658368" y="1813438"/>
            <a:ext cx="6967728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ENCH_DECOR"/>
          <p:cNvSpPr/>
          <p:nvPr/>
        </p:nvSpPr>
        <p:spPr>
          <a:xfrm>
            <a:off x="658368" y="1813438"/>
            <a:ext cx="54864" cy="117043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ENCH_BODY"/>
          <p:cNvSpPr txBox="1"/>
          <p:nvPr/>
        </p:nvSpPr>
        <p:spPr>
          <a:xfrm>
            <a:off x="859536" y="1959742"/>
            <a:ext cx="6620256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Validate data per line.</a:t>
            </a:r>
          </a:p>
        </p:txBody>
      </p:sp>
      <p:sp>
        <p:nvSpPr>
          <p:cNvPr id="17" name="BENCH_INSIGHT_CARD"/>
          <p:cNvSpPr/>
          <p:nvPr/>
        </p:nvSpPr>
        <p:spPr>
          <a:xfrm>
            <a:off x="658368" y="3130174"/>
            <a:ext cx="6967728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ENCH_DECOR"/>
          <p:cNvSpPr/>
          <p:nvPr/>
        </p:nvSpPr>
        <p:spPr>
          <a:xfrm>
            <a:off x="658368" y="3130174"/>
            <a:ext cx="54864" cy="1170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ENCH_BODY"/>
          <p:cNvSpPr txBox="1"/>
          <p:nvPr/>
        </p:nvSpPr>
        <p:spPr>
          <a:xfrm>
            <a:off x="859536" y="3276478"/>
            <a:ext cx="6620256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Build cost model with sensitivity analysis.</a:t>
            </a:r>
          </a:p>
        </p:txBody>
      </p:sp>
      <p:sp>
        <p:nvSpPr>
          <p:cNvPr id="20" name="BENCH_INSIGHT_CARD"/>
          <p:cNvSpPr/>
          <p:nvPr/>
        </p:nvSpPr>
        <p:spPr>
          <a:xfrm>
            <a:off x="658368" y="4446910"/>
            <a:ext cx="6967728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ENCH_DECOR"/>
          <p:cNvSpPr/>
          <p:nvPr/>
        </p:nvSpPr>
        <p:spPr>
          <a:xfrm>
            <a:off x="658368" y="4446910"/>
            <a:ext cx="54864" cy="1170432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ENCH_BODY"/>
          <p:cNvSpPr txBox="1"/>
          <p:nvPr/>
        </p:nvSpPr>
        <p:spPr>
          <a:xfrm>
            <a:off x="859536" y="4593214"/>
            <a:ext cx="6620256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Implement pilot on remaining lines.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Next Steps</a:t>
            </a:r>
          </a:p>
        </p:txBody>
      </p:sp>
      <p:sp>
        <p:nvSpPr>
          <p:cNvPr id="5" name="BENCH_SUBTITLE"/>
          <p:cNvSpPr txBox="1"/>
          <p:nvPr/>
        </p:nvSpPr>
        <p:spPr>
          <a:xfrm>
            <a:off x="640080" y="749808"/>
            <a:ext cx="10744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Action Items</a:t>
            </a:r>
          </a:p>
        </p:txBody>
      </p:sp>
      <p:sp>
        <p:nvSpPr>
          <p:cNvPr id="6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3</a:t>
            </a:r>
          </a:p>
        </p:txBody>
      </p:sp>
      <p:sp>
        <p:nvSpPr>
          <p:cNvPr id="8" name="BENCH_KPI_CARD"/>
          <p:cNvSpPr/>
          <p:nvPr/>
        </p:nvSpPr>
        <p:spPr>
          <a:xfrm>
            <a:off x="658368" y="1115568"/>
            <a:ext cx="53492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ENCH_DECOR"/>
          <p:cNvSpPr/>
          <p:nvPr/>
        </p:nvSpPr>
        <p:spPr>
          <a:xfrm>
            <a:off x="658368" y="1115568"/>
            <a:ext cx="64008" cy="111556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KPI_LABEL"/>
          <p:cNvSpPr txBox="1"/>
          <p:nvPr/>
        </p:nvSpPr>
        <p:spPr>
          <a:xfrm>
            <a:off x="859536" y="1261872"/>
            <a:ext cx="5020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67085"/>
                </a:solidFill>
                <a:latin typeface="Malgun Gothic"/>
              </a:rPr>
              <a:t>Defect Rate Validation</a:t>
            </a:r>
          </a:p>
        </p:txBody>
      </p:sp>
      <p:sp>
        <p:nvSpPr>
          <p:cNvPr id="11" name="BENCH_KPI_VALUE"/>
          <p:cNvSpPr txBox="1"/>
          <p:nvPr/>
        </p:nvSpPr>
        <p:spPr>
          <a:xfrm>
            <a:off x="859536" y="1508760"/>
            <a:ext cx="50200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1F33"/>
                </a:solidFill>
                <a:latin typeface="Malgun Gothic"/>
              </a:rPr>
              <a:t>Complete detailed table per line</a:t>
            </a:r>
          </a:p>
        </p:txBody>
      </p:sp>
      <p:sp>
        <p:nvSpPr>
          <p:cNvPr id="12" name="BENCH_KPI_DETAIL"/>
          <p:cNvSpPr txBox="1"/>
          <p:nvPr/>
        </p:nvSpPr>
        <p:spPr>
          <a:xfrm>
            <a:off x="859536" y="2011680"/>
            <a:ext cx="502005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Due: 2025-09-15</a:t>
            </a:r>
          </a:p>
        </p:txBody>
      </p:sp>
      <p:sp>
        <p:nvSpPr>
          <p:cNvPr id="13" name="BENCH_KPI_CARD"/>
          <p:cNvSpPr/>
          <p:nvPr/>
        </p:nvSpPr>
        <p:spPr>
          <a:xfrm>
            <a:off x="6172200" y="1115568"/>
            <a:ext cx="53492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ENCH_DECOR"/>
          <p:cNvSpPr/>
          <p:nvPr/>
        </p:nvSpPr>
        <p:spPr>
          <a:xfrm>
            <a:off x="6172200" y="1115568"/>
            <a:ext cx="64008" cy="111556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ENCH_KPI_LABEL"/>
          <p:cNvSpPr txBox="1"/>
          <p:nvPr/>
        </p:nvSpPr>
        <p:spPr>
          <a:xfrm>
            <a:off x="6373368" y="1261872"/>
            <a:ext cx="5020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67085"/>
                </a:solidFill>
                <a:latin typeface="Malgun Gothic"/>
              </a:rPr>
              <a:t>Cost Model Completion</a:t>
            </a:r>
          </a:p>
        </p:txBody>
      </p:sp>
      <p:sp>
        <p:nvSpPr>
          <p:cNvPr id="16" name="BENCH_KPI_VALUE"/>
          <p:cNvSpPr txBox="1"/>
          <p:nvPr/>
        </p:nvSpPr>
        <p:spPr>
          <a:xfrm>
            <a:off x="6373368" y="1508760"/>
            <a:ext cx="50200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1F33"/>
                </a:solidFill>
                <a:latin typeface="Malgun Gothic"/>
              </a:rPr>
              <a:t>Build scenario analysis for scaling</a:t>
            </a:r>
          </a:p>
        </p:txBody>
      </p:sp>
      <p:sp>
        <p:nvSpPr>
          <p:cNvPr id="17" name="BENCH_KPI_DETAIL"/>
          <p:cNvSpPr txBox="1"/>
          <p:nvPr/>
        </p:nvSpPr>
        <p:spPr>
          <a:xfrm>
            <a:off x="6373368" y="2011680"/>
            <a:ext cx="502005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Due: 2025-09-20</a:t>
            </a:r>
          </a:p>
        </p:txBody>
      </p:sp>
      <p:graphicFrame>
        <p:nvGraphicFramePr>
          <p:cNvPr id="18" name="BENCH_CHART"/>
          <p:cNvGraphicFramePr>
            <a:graphicFrameLocks noGrp="1"/>
          </p:cNvGraphicFramePr>
          <p:nvPr/>
        </p:nvGraphicFramePr>
        <p:xfrm>
          <a:off x="713232" y="2414015"/>
          <a:ext cx="10771632" cy="320954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BENCH_CALLOUT_BG"/>
          <p:cNvSpPr/>
          <p:nvPr/>
        </p:nvSpPr>
        <p:spPr>
          <a:xfrm>
            <a:off x="658368" y="5779008"/>
            <a:ext cx="10863072" cy="475488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ENCH_CALLOUT"/>
          <p:cNvSpPr txBox="1"/>
          <p:nvPr/>
        </p:nvSpPr>
        <p:spPr>
          <a:xfrm>
            <a:off x="868680" y="5879592"/>
            <a:ext cx="10442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High priority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