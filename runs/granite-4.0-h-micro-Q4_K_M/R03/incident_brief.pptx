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모터 온도(C)</c:v>
                </c:pt>
              </c:strCache>
            </c:strRef>
          </c:tx>
          <c:spPr>
            <a:solidFill>
              <a:srgbClr val="2F6BFF"/>
            </a:solidFill>
            <a:ln w="28575">
              <a:solidFill>
                <a:srgbClr val="2F6BFF"/>
              </a:solidFill>
            </a:ln>
          </c:spPr>
          <c:marker>
            <c:symbol val="circle"/>
            <c:size val="6"/>
          </c:marker>
          <c:cat>
            <c:strRef>
              <c:f>Sheet1!$A$2:$A$2</c:f>
              <c:strCache>
                <c:ptCount val="1"/>
                <c:pt idx="0">
                  <c:v>시간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78.2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85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E1E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모터 고온 사고 요약</a:t>
            </a:r>
          </a:p>
        </p:txBody>
      </p:sp>
      <p:sp>
        <p:nvSpPr>
          <p:cNvPr id="5" name="BENCH_SUBTITLE"/>
          <p:cNvSpPr txBox="1"/>
          <p:nvPr/>
        </p:nvSpPr>
        <p:spPr>
          <a:xfrm>
            <a:off x="640080" y="749808"/>
            <a:ext cx="10744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2026-07-14 14:07 보호정지 발생</a:t>
            </a:r>
          </a:p>
        </p:txBody>
      </p:sp>
      <p:sp>
        <p:nvSpPr>
          <p:cNvPr id="6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1</a:t>
            </a:r>
          </a:p>
        </p:txBody>
      </p:sp>
      <p:sp>
        <p:nvSpPr>
          <p:cNvPr id="8" name="BENCH_TAKEAWAY_BG"/>
          <p:cNvSpPr/>
          <p:nvPr/>
        </p:nvSpPr>
        <p:spPr>
          <a:xfrm>
            <a:off x="621792" y="1115568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TAKEAWAY"/>
          <p:cNvSpPr txBox="1"/>
          <p:nvPr/>
        </p:nvSpPr>
        <p:spPr>
          <a:xfrm>
            <a:off x="841248" y="1197864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13:58부터 모터 과열이 진행하여 최종적으로 보호정지가 동작한 사고 상황.</a:t>
            </a:r>
          </a:p>
        </p:txBody>
      </p:sp>
      <p:sp>
        <p:nvSpPr>
          <p:cNvPr id="10" name="BENCH_KPI_CARD"/>
          <p:cNvSpPr/>
          <p:nvPr/>
        </p:nvSpPr>
        <p:spPr>
          <a:xfrm>
            <a:off x="658368" y="1773936"/>
            <a:ext cx="53492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DECOR"/>
          <p:cNvSpPr/>
          <p:nvPr/>
        </p:nvSpPr>
        <p:spPr>
          <a:xfrm>
            <a:off x="658368" y="1773936"/>
            <a:ext cx="64008" cy="11155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ENCH_KPI_LABEL"/>
          <p:cNvSpPr txBox="1"/>
          <p:nvPr/>
        </p:nvSpPr>
        <p:spPr>
          <a:xfrm>
            <a:off x="859536" y="1920240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최대 모터 온도</a:t>
            </a:r>
          </a:p>
        </p:txBody>
      </p:sp>
      <p:sp>
        <p:nvSpPr>
          <p:cNvPr id="13" name="BENCH_KPI_VALUE"/>
          <p:cNvSpPr txBox="1"/>
          <p:nvPr/>
        </p:nvSpPr>
        <p:spPr>
          <a:xfrm>
            <a:off x="859536" y="2167128"/>
            <a:ext cx="5020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91.1C</a:t>
            </a:r>
          </a:p>
        </p:txBody>
      </p:sp>
      <p:sp>
        <p:nvSpPr>
          <p:cNvPr id="14" name="BENCH_KPI_DETAIL"/>
          <p:cNvSpPr txBox="1"/>
          <p:nvPr/>
        </p:nvSpPr>
        <p:spPr>
          <a:xfrm>
            <a:off x="859536" y="2670048"/>
            <a:ext cx="502005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85C 초과 경고선</a:t>
            </a:r>
          </a:p>
        </p:txBody>
      </p:sp>
      <p:sp>
        <p:nvSpPr>
          <p:cNvPr id="15" name="BENCH_KPI_CARD"/>
          <p:cNvSpPr/>
          <p:nvPr/>
        </p:nvSpPr>
        <p:spPr>
          <a:xfrm>
            <a:off x="6172200" y="1773936"/>
            <a:ext cx="53492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ENCH_DECOR"/>
          <p:cNvSpPr/>
          <p:nvPr/>
        </p:nvSpPr>
        <p:spPr>
          <a:xfrm>
            <a:off x="6172200" y="1773936"/>
            <a:ext cx="64008" cy="111556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ENCH_KPI_LABEL"/>
          <p:cNvSpPr txBox="1"/>
          <p:nvPr/>
        </p:nvSpPr>
        <p:spPr>
          <a:xfrm>
            <a:off x="6373368" y="1920240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사고 발생 시간</a:t>
            </a:r>
          </a:p>
        </p:txBody>
      </p:sp>
      <p:sp>
        <p:nvSpPr>
          <p:cNvPr id="18" name="BENCH_KPI_VALUE"/>
          <p:cNvSpPr txBox="1"/>
          <p:nvPr/>
        </p:nvSpPr>
        <p:spPr>
          <a:xfrm>
            <a:off x="6373368" y="2167128"/>
            <a:ext cx="5020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14:07</a:t>
            </a:r>
          </a:p>
        </p:txBody>
      </p:sp>
      <p:sp>
        <p:nvSpPr>
          <p:cNvPr id="19" name="BENCH_KPI_DETAIL"/>
          <p:cNvSpPr txBox="1"/>
          <p:nvPr/>
        </p:nvSpPr>
        <p:spPr>
          <a:xfrm>
            <a:off x="6373368" y="2670048"/>
            <a:ext cx="502005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보호정지 이후 즉시 확인</a:t>
            </a:r>
          </a:p>
        </p:txBody>
      </p:sp>
      <p:sp>
        <p:nvSpPr>
          <p:cNvPr id="20" name="BENCH_BODY"/>
          <p:cNvSpPr txBox="1"/>
          <p:nvPr/>
        </p:nvSpPr>
        <p:spPr>
          <a:xfrm>
            <a:off x="658368" y="3072384"/>
            <a:ext cx="108630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50" b="0">
                <a:solidFill>
                  <a:srgbClr val="172033"/>
                </a:solidFill>
                <a:latin typeface="Malgun Gothic"/>
              </a:rPr>
              <a:t>• 2026-07-14 13:30 정기 윤활 완료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50" b="0">
                <a:solidFill>
                  <a:srgbClr val="172033"/>
                </a:solidFill>
                <a:latin typeface="Malgun Gothic"/>
              </a:rPr>
              <a:t>• 13:58 모터 온도 78.2C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50" b="0">
                <a:solidFill>
                  <a:srgbClr val="172033"/>
                </a:solidFill>
                <a:latin typeface="Malgun Gothic"/>
              </a:rPr>
              <a:t>• 14:02 모터 온도 86.7C, 고온 경고 발생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50" b="0">
                <a:solidFill>
                  <a:srgbClr val="172033"/>
                </a:solidFill>
                <a:latin typeface="Malgun Gothic"/>
              </a:rPr>
              <a:t>• 14:04 모터 온도 91.1C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50" b="0">
                <a:solidFill>
                  <a:srgbClr val="172033"/>
                </a:solidFill>
                <a:latin typeface="Malgun Gothic"/>
              </a:rPr>
              <a:t>• 14:07 보호정지 발생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50" b="0">
                <a:solidFill>
                  <a:srgbClr val="172033"/>
                </a:solidFill>
                <a:latin typeface="Malgun Gothic"/>
              </a:rPr>
              <a:t>• 14:16 냉각 흡입구 분진 확인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50" b="0">
                <a:solidFill>
                  <a:srgbClr val="172033"/>
                </a:solidFill>
                <a:latin typeface="Malgun Gothic"/>
              </a:rPr>
              <a:t>• 14:31 분진 제거 후 재가동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50" b="0">
                <a:solidFill>
                  <a:srgbClr val="172033"/>
                </a:solidFill>
                <a:latin typeface="Malgun Gothic"/>
              </a:rPr>
              <a:t>• 14:45 정상 운전</a:t>
            </a:r>
          </a:p>
        </p:txBody>
      </p:sp>
      <p:graphicFrame>
        <p:nvGraphicFramePr>
          <p:cNvPr id="21" name="BENCH_CHART"/>
          <p:cNvGraphicFramePr>
            <a:graphicFrameLocks noGrp="1"/>
          </p:cNvGraphicFramePr>
          <p:nvPr/>
        </p:nvGraphicFramePr>
        <p:xfrm>
          <a:off x="658368" y="3895344"/>
          <a:ext cx="5577840" cy="17282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2" name="BENCH_TABLE"/>
          <p:cNvGraphicFramePr>
            <a:graphicFrameLocks noGrp="1"/>
          </p:cNvGraphicFramePr>
          <p:nvPr/>
        </p:nvGraphicFramePr>
        <p:xfrm>
          <a:off x="6419088" y="3895344"/>
          <a:ext cx="5102352" cy="1728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2551176"/>
              </a:tblGrid>
              <a:tr h="432054"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13:30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윤활 작업 완료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  <a:tr h="432054"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13:58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모터 온도 78.2C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432054"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14:02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모터 온도 86.7C, 고온 경고 발생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  <a:tr h="432054"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14:04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모터 온도 91.1C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BENCH_CALLOUT_BG"/>
          <p:cNvSpPr/>
          <p:nvPr/>
        </p:nvSpPr>
        <p:spPr>
          <a:xfrm>
            <a:off x="658368" y="5779008"/>
            <a:ext cx="10863072" cy="475488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ENCH_CALLOUT"/>
          <p:cNvSpPr txBox="1"/>
          <p:nvPr/>
        </p:nvSpPr>
        <p:spPr>
          <a:xfrm>
            <a:off x="868680" y="5879592"/>
            <a:ext cx="10442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냉각 유량 저하와 베어링 마찰 증가로 인한 과열 원인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