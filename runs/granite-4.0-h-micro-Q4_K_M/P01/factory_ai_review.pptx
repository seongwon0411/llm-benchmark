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Output Units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dPt>
            <c:idx val="0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1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dPt>
            <c:idx val="2"/>
            <c:spPr>
              <a:solidFill>
                <a:srgbClr val="2F6BFF"/>
              </a:solidFill>
              <a:ln>
                <a:solidFill>
                  <a:srgbClr val="2F6BFF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120000.0</c:v>
                </c:pt>
                <c:pt idx="1">
                  <c:v>128000.0</c:v>
                </c:pt>
                <c:pt idx="2">
                  <c:v>35000.0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2026 연차 요약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파일럿 라인 기준으로 평가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파일럿 라인에서 2026년 출력량은 35,000 단위로 예상되며, 경영진은 확대 도입 여부를 검토합니다.</a:t>
            </a:r>
          </a:p>
        </p:txBody>
      </p:sp>
      <p:sp>
        <p:nvSpPr>
          <p:cNvPr id="10" name="BENCH_BODY"/>
          <p:cNvSpPr txBox="1"/>
          <p:nvPr/>
        </p:nvSpPr>
        <p:spPr>
          <a:xfrm>
            <a:off x="658368" y="1773936"/>
            <a:ext cx="10863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파이썬 분석 결과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KPI 데이터 확인</a:t>
            </a:r>
          </a:p>
        </p:txBody>
      </p:sp>
      <p:graphicFrame>
        <p:nvGraphicFramePr>
          <p:cNvPr id="11" name="BENCH_CHART"/>
          <p:cNvGraphicFramePr>
            <a:graphicFrameLocks noGrp="1"/>
          </p:cNvGraphicFramePr>
          <p:nvPr/>
        </p:nvGraphicFramePr>
        <p:xfrm>
          <a:off x="658368" y="2596896"/>
          <a:ext cx="5577840" cy="302666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BENCH_TABLE"/>
          <p:cNvGraphicFramePr>
            <a:graphicFrameLocks noGrp="1"/>
          </p:cNvGraphicFramePr>
          <p:nvPr/>
        </p:nvGraphicFramePr>
        <p:xfrm>
          <a:off x="6419088" y="2596896"/>
          <a:ext cx="5102352" cy="3026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275588"/>
                <a:gridCol w="1275588"/>
              </a:tblGrid>
              <a:tr h="302666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2024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2025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2026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3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2026 Scope: 파일럿 라인 1개 기준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확대 도입 권고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조건과 리스크 연계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확대는 조걷 충족 시 진행하며, 주요 리스크는 생산량 변동 및 품질 안정화입니다.</a:t>
            </a:r>
          </a:p>
        </p:txBody>
      </p:sp>
      <p:sp>
        <p:nvSpPr>
          <p:cNvPr id="10" name="BENCH_DECISION_CARD"/>
          <p:cNvSpPr/>
          <p:nvPr/>
        </p:nvSpPr>
        <p:spPr>
          <a:xfrm>
            <a:off x="7955279" y="1773936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ACCENT"/>
          <p:cNvSpPr/>
          <p:nvPr/>
        </p:nvSpPr>
        <p:spPr>
          <a:xfrm>
            <a:off x="7955279" y="1773936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ISION_LABEL"/>
          <p:cNvSpPr txBox="1"/>
          <p:nvPr/>
        </p:nvSpPr>
        <p:spPr>
          <a:xfrm>
            <a:off x="8229600" y="1956816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3" name="BENCH_DECISION"/>
          <p:cNvSpPr txBox="1"/>
          <p:nvPr/>
        </p:nvSpPr>
        <p:spPr>
          <a:xfrm>
            <a:off x="8229600" y="229514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경영진은 조건을 확인 후 결정해 주세요.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658368" y="1855683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58368" y="1855683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859536" y="2001987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조건: 파일럿 성과 유지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658368" y="3172419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658368" y="3172419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859536" y="3318723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리스크: 생산량 변동, 품질 안정화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