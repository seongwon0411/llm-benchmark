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ENCH_BACKGROUND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BENCH_DECOR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BENCH_TITLE"/>
          <p:cNvSpPr txBox="1"/>
          <p:nvPr/>
        </p:nvSpPr>
        <p:spPr>
          <a:xfrm>
            <a:off x="621792" y="292608"/>
            <a:ext cx="108356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00" b="1">
                <a:solidFill>
                  <a:srgbClr val="0B1F33"/>
                </a:solidFill>
                <a:latin typeface="Malgun Gothic"/>
              </a:rPr>
              <a:t>Revised SOP</a:t>
            </a:r>
          </a:p>
        </p:txBody>
      </p:sp>
      <p:sp>
        <p:nvSpPr>
          <p:cNvPr id="5" name="BENCH_DECOR"/>
          <p:cNvSpPr/>
          <p:nvPr/>
        </p:nvSpPr>
        <p:spPr>
          <a:xfrm>
            <a:off x="621792" y="6446520"/>
            <a:ext cx="10927080" cy="18288"/>
          </a:xfrm>
          <a:prstGeom prst="rect">
            <a:avLst/>
          </a:prstGeom>
          <a:solidFill>
            <a:srgbClr val="D9E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BENCH_PAGE"/>
          <p:cNvSpPr txBox="1"/>
          <p:nvPr/>
        </p:nvSpPr>
        <p:spPr>
          <a:xfrm>
            <a:off x="11228832" y="6492240"/>
            <a:ext cx="3200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667085"/>
                </a:solidFill>
                <a:latin typeface="Malgun Gothic"/>
              </a:rPr>
              <a:t>1</a:t>
            </a:r>
          </a:p>
        </p:txBody>
      </p:sp>
      <p:sp>
        <p:nvSpPr>
          <p:cNvPr id="7" name="BENCH_TAKEAWAY_BG"/>
          <p:cNvSpPr/>
          <p:nvPr/>
        </p:nvSpPr>
        <p:spPr>
          <a:xfrm>
            <a:off x="621792" y="1042415"/>
            <a:ext cx="10927080" cy="530352"/>
          </a:xfrm>
          <a:prstGeom prst="roundRect">
            <a:avLst/>
          </a:prstGeom>
          <a:solidFill>
            <a:srgbClr val="EA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BENCH_TAKEAWAY"/>
          <p:cNvSpPr txBox="1"/>
          <p:nvPr/>
        </p:nvSpPr>
        <p:spPr>
          <a:xfrm>
            <a:off x="841248" y="1124712"/>
            <a:ext cx="1046988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500" b="1">
                <a:solidFill>
                  <a:srgbClr val="0B1F33"/>
                </a:solidFill>
                <a:latin typeface="Malgun Gothic"/>
              </a:rPr>
              <a:t>A writable SOP for field workers with clear step-by-step checklist and distinction between general and emergency changes.</a:t>
            </a:r>
          </a:p>
        </p:txBody>
      </p:sp>
      <p:sp>
        <p:nvSpPr>
          <p:cNvPr id="9" name="BENCH_INSIGHT_CARD"/>
          <p:cNvSpPr/>
          <p:nvPr/>
        </p:nvSpPr>
        <p:spPr>
          <a:xfrm>
            <a:off x="658368" y="1823679"/>
            <a:ext cx="10863072" cy="1170432"/>
          </a:xfrm>
          <a:prstGeom prst="roundRect">
            <a:avLst/>
          </a:prstGeom>
          <a:solidFill>
            <a:srgbClr val="FAFBFC"/>
          </a:solidFill>
          <a:ln w="12700">
            <a:solidFill>
              <a:srgbClr val="D9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BENCH_DECOR"/>
          <p:cNvSpPr/>
          <p:nvPr/>
        </p:nvSpPr>
        <p:spPr>
          <a:xfrm>
            <a:off x="658368" y="1823679"/>
            <a:ext cx="54864" cy="1170432"/>
          </a:xfrm>
          <a:prstGeom prst="rect">
            <a:avLst/>
          </a:prstGeom>
          <a:solidFill>
            <a:srgbClr val="2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BENCH_BODY"/>
          <p:cNvSpPr txBox="1"/>
          <p:nvPr/>
        </p:nvSpPr>
        <p:spPr>
          <a:xfrm>
            <a:off x="859536" y="1969983"/>
            <a:ext cx="1051560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500" b="0">
                <a:solidFill>
                  <a:srgbClr val="172033"/>
                </a:solidFill>
                <a:latin typeface="Malgun Gothic"/>
              </a:rPr>
              <a:t>Current Process: 1. Worker informs team lead of change request.</a:t>
            </a:r>
            <a:br/>
            <a:r>
              <a:t>2. Team lead approves and implements in operational equipment.</a:t>
            </a:r>
            <a:br/>
            <a:r>
              <a:t>3. If issues arise, revert to previous state.</a:t>
            </a:r>
          </a:p>
        </p:txBody>
      </p:sp>
      <p:sp>
        <p:nvSpPr>
          <p:cNvPr id="12" name="BENCH_INSIGHT_CARD"/>
          <p:cNvSpPr/>
          <p:nvPr/>
        </p:nvSpPr>
        <p:spPr>
          <a:xfrm>
            <a:off x="658368" y="3140415"/>
            <a:ext cx="10863072" cy="1170432"/>
          </a:xfrm>
          <a:prstGeom prst="roundRect">
            <a:avLst/>
          </a:prstGeom>
          <a:solidFill>
            <a:srgbClr val="FAFBFC"/>
          </a:solidFill>
          <a:ln w="12700">
            <a:solidFill>
              <a:srgbClr val="D9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BENCH_DECOR"/>
          <p:cNvSpPr/>
          <p:nvPr/>
        </p:nvSpPr>
        <p:spPr>
          <a:xfrm>
            <a:off x="658368" y="3140415"/>
            <a:ext cx="54864" cy="1170432"/>
          </a:xfrm>
          <a:prstGeom prst="rect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BENCH_BODY"/>
          <p:cNvSpPr txBox="1"/>
          <p:nvPr/>
        </p:nvSpPr>
        <p:spPr>
          <a:xfrm>
            <a:off x="859536" y="3286719"/>
            <a:ext cx="1051560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500" b="0">
                <a:solidFill>
                  <a:srgbClr val="172033"/>
                </a:solidFill>
                <a:latin typeface="Malgun Gothic"/>
              </a:rPr>
              <a:t>Policy Requirements:</a:t>
            </a:r>
            <a:br/>
            <a:r>
              <a:t>- All changes require a ticket number.</a:t>
            </a:r>
            <a:br/>
            <a:r>
              <a:t>- Separation of workers and approvers for general changes.</a:t>
            </a:r>
            <a:br/>
            <a:r>
              <a:t>- Backup and recovery testing confirmation before implementation.</a:t>
            </a:r>
            <a:br/>
            <a:r>
              <a:t>- Immediate rollback if failure criteria met.</a:t>
            </a:r>
            <a:br/>
            <a:r>
              <a:t>- Emergency changes may be prioritized but must receive approval within 24 hours.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