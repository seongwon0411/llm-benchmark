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출력 단위 (단위: thousand)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128.0</c:v>
                </c:pt>
                <c:pt idx="2">
                  <c:v>35.0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불량률 (%)</c:v>
                </c:pt>
              </c:strCache>
            </c:strRef>
          </c:tx>
          <c:spPr>
            <a:solidFill>
              <a:srgbClr val="00A6A6"/>
            </a:solidFill>
            <a:ln>
              <a:solidFill>
                <a:srgbClr val="00A6A6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OEE (%)</c:v>
                </c:pt>
              </c:strCache>
            </c:strRef>
          </c:tx>
          <c:spPr>
            <a:solidFill>
              <a:srgbClr val="7C5CFC"/>
            </a:solidFill>
            <a:ln>
              <a:solidFill>
                <a:srgbClr val="7C5CFC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71.0</c:v>
                </c:pt>
                <c:pt idx="1">
                  <c:v>74.0</c:v>
                </c:pt>
                <c:pt idx="2">
                  <c:v>81.0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불량률 (%)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OEE (%)</c:v>
                </c:pt>
              </c:strCache>
            </c:strRef>
          </c:tx>
          <c:spPr>
            <a:solidFill>
              <a:srgbClr val="00A6A6"/>
            </a:solidFill>
            <a:ln w="28575">
              <a:solidFill>
                <a:srgbClr val="00A6A6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71.0</c:v>
                </c:pt>
                <c:pt idx="1">
                  <c:v>74.0</c:v>
                </c:pt>
                <c:pt idx="2">
                  <c:v>81.0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출력 단위 (단위: thousand)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128.0</c:v>
                </c:pt>
                <c:pt idx="2">
                  <c:v>35.0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불량률 (%)</c:v>
                </c:pt>
              </c:strCache>
            </c:strRef>
          </c:tx>
          <c:spPr>
            <a:solidFill>
              <a:srgbClr val="00A6A6"/>
            </a:solidFill>
            <a:ln>
              <a:solidFill>
                <a:srgbClr val="00A6A6"/>
              </a:solidFill>
            </a:ln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공장 AI 성과 및 확대 검토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2024-2026 KPI 분석 및 미래 전망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AI 도입이 생산성과 품질에 Positive Impact를 미치고 있다.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연도별 KPI 트렌드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출력 단위, 불량률, OEE가 연간 개선되고 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파일럿 라인 결과 (2026)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라인은 불량률과 OEE에서 큰 성적을 거두었다.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14"/>
                <a:gridCol w="2172614"/>
                <a:gridCol w="2172614"/>
                <a:gridCol w="2172614"/>
                <a:gridCol w="2172616"/>
              </a:tblGrid>
              <a:tr h="2267712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2026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파일럿 라인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35,000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3.1%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81%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2267712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전체공장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2024-2025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120,000 - 128,000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4.8% (평균)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72.5% (평균)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불량률 및 OEE 변화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AI 도입으로 불량률이 5.2% → 3.1%로 감소하고, OEE가 71% → 81%로 향상되었다.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출력 단위 vs 불량률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AI 도입으로 생산성 향상과 품질 개선이 동시에 이뤄졌다.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리스크/조치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확대 도입 시 인력 및 시스템의 준비에 유의해야 한다.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1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6183"/>
                <a:gridCol w="1520830"/>
                <a:gridCol w="1520830"/>
                <a:gridCol w="4345228"/>
              </a:tblGrid>
              <a:tr h="2267712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인력準備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AI 전문가 배정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✓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중요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</a:tr>
              <a:tr h="2267712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시스템 preparedness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데이터 통합 플랫폼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✗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36B48"/>
                          </a:solidFill>
                          <a:latin typeface="Malgun Gothic"/>
                        </a:rPr>
                        <a:t>우선적 조치 필요</a:t>
                      </a:r>
                    </a:p>
                  </a:txBody>
                  <a:tcPr marL="91440" marR="91440" marT="54864" marB="54864"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결론: AI 도입의 효과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라인의 성공은 확대 도입의 기반이 된다.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파일럿 라인의 성공은 확대 도입의 기반이 된다.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658368" y="1744675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5836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859536" y="1890979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불량률과 OEE가 개선됨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658368" y="3061411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65836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859536" y="3207715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생산성 향상</a:t>
            </a:r>
          </a:p>
        </p:txBody>
      </p:sp>
      <p:sp>
        <p:nvSpPr>
          <p:cNvPr id="19" name="BENCH_INSIGHT_CARD"/>
          <p:cNvSpPr/>
          <p:nvPr/>
        </p:nvSpPr>
        <p:spPr>
          <a:xfrm>
            <a:off x="658368" y="4378147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DECOR"/>
          <p:cNvSpPr/>
          <p:nvPr/>
        </p:nvSpPr>
        <p:spPr>
          <a:xfrm>
            <a:off x="65836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BODY"/>
          <p:cNvSpPr txBox="1"/>
          <p:nvPr/>
        </p:nvSpPr>
        <p:spPr>
          <a:xfrm>
            <a:off x="859536" y="4524451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경영진 검토 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확대 도입에 대한 권고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8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라인의 성공을 바탕으로 전체 공장에 확대 도입할 것을 추천한다.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조건: 인력 및 시스템의 준비 확인, 리스크 관리 계획 수립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