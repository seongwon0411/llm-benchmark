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Flow (million won)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Sheet1!$A$2:$A$6</c:f>
              <c:strCache>
                <c:ptCount val="5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-420.0</c:v>
                </c:pt>
                <c:pt idx="1">
                  <c:v>105.0</c:v>
                </c:pt>
                <c:pt idx="2">
                  <c:v>125.0</c:v>
                </c:pt>
                <c:pt idx="3">
                  <c:v>145.0</c:v>
                </c:pt>
                <c:pt idx="4">
                  <c:v>155.0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파일럿 프로젝트 투자 경우의점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누적 cash flow 및 payback 분석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3.3년 내로 초기 investment를 상쇄할 수 있는 payback period을 달성할 예정입니다.</a:t>
            </a:r>
          </a:p>
        </p:txBody>
      </p:sp>
      <p:sp>
        <p:nvSpPr>
          <p:cNvPr id="10" name="BENCH_KPI_CARD"/>
          <p:cNvSpPr/>
          <p:nvPr/>
        </p:nvSpPr>
        <p:spPr>
          <a:xfrm>
            <a:off x="658368" y="1773936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773936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KPI_LABEL"/>
          <p:cNvSpPr txBox="1"/>
          <p:nvPr/>
        </p:nvSpPr>
        <p:spPr>
          <a:xfrm>
            <a:off x="859536" y="1920240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초기 investment</a:t>
            </a:r>
          </a:p>
        </p:txBody>
      </p:sp>
      <p:sp>
        <p:nvSpPr>
          <p:cNvPr id="13" name="BENCH_KPI_VALUE"/>
          <p:cNvSpPr txBox="1"/>
          <p:nvPr/>
        </p:nvSpPr>
        <p:spPr>
          <a:xfrm>
            <a:off x="859536" y="2167128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-420 million won</a:t>
            </a:r>
          </a:p>
        </p:txBody>
      </p:sp>
      <p:sp>
        <p:nvSpPr>
          <p:cNvPr id="14" name="BENCH_KPI_DETAIL"/>
          <p:cNvSpPr txBox="1"/>
          <p:nvPr/>
        </p:nvSpPr>
        <p:spPr>
          <a:xfrm>
            <a:off x="859536" y="2670048"/>
            <a:ext cx="3182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Year 0</a:t>
            </a:r>
          </a:p>
        </p:txBody>
      </p:sp>
      <p:sp>
        <p:nvSpPr>
          <p:cNvPr id="15" name="BENCH_KPI_CARD"/>
          <p:cNvSpPr/>
          <p:nvPr/>
        </p:nvSpPr>
        <p:spPr>
          <a:xfrm>
            <a:off x="4334256" y="1773936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4334256" y="1773936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KPI_LABEL"/>
          <p:cNvSpPr txBox="1"/>
          <p:nvPr/>
        </p:nvSpPr>
        <p:spPr>
          <a:xfrm>
            <a:off x="4535424" y="1920240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누적 cash flow (Year 1-4)</a:t>
            </a:r>
          </a:p>
        </p:txBody>
      </p:sp>
      <p:sp>
        <p:nvSpPr>
          <p:cNvPr id="18" name="BENCH_KPI_VALUE"/>
          <p:cNvSpPr txBox="1"/>
          <p:nvPr/>
        </p:nvSpPr>
        <p:spPr>
          <a:xfrm>
            <a:off x="4535424" y="2167128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+330 million won</a:t>
            </a:r>
          </a:p>
        </p:txBody>
      </p:sp>
      <p:sp>
        <p:nvSpPr>
          <p:cNvPr id="19" name="BENCH_KPI_DETAIL"/>
          <p:cNvSpPr txBox="1"/>
          <p:nvPr/>
        </p:nvSpPr>
        <p:spPr>
          <a:xfrm>
            <a:off x="4535424" y="2670048"/>
            <a:ext cx="3182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연간 growth로 누적</a:t>
            </a:r>
          </a:p>
        </p:txBody>
      </p:sp>
      <p:sp>
        <p:nvSpPr>
          <p:cNvPr id="20" name="BENCH_KPI_CARD"/>
          <p:cNvSpPr/>
          <p:nvPr/>
        </p:nvSpPr>
        <p:spPr>
          <a:xfrm>
            <a:off x="8010144" y="1773936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DECOR"/>
          <p:cNvSpPr/>
          <p:nvPr/>
        </p:nvSpPr>
        <p:spPr>
          <a:xfrm>
            <a:off x="8010144" y="1773936"/>
            <a:ext cx="64008" cy="111556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ENCH_KPI_LABEL"/>
          <p:cNvSpPr txBox="1"/>
          <p:nvPr/>
        </p:nvSpPr>
        <p:spPr>
          <a:xfrm>
            <a:off x="8211312" y="1920240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payback period</a:t>
            </a:r>
          </a:p>
        </p:txBody>
      </p:sp>
      <p:sp>
        <p:nvSpPr>
          <p:cNvPr id="23" name="BENCH_KPI_VALUE"/>
          <p:cNvSpPr txBox="1"/>
          <p:nvPr/>
        </p:nvSpPr>
        <p:spPr>
          <a:xfrm>
            <a:off x="8211312" y="2167128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3.3 years</a:t>
            </a:r>
          </a:p>
        </p:txBody>
      </p:sp>
      <p:sp>
        <p:nvSpPr>
          <p:cNvPr id="24" name="BENCH_KPI_DETAIL"/>
          <p:cNvSpPr txBox="1"/>
          <p:nvPr/>
        </p:nvSpPr>
        <p:spPr>
          <a:xfrm>
            <a:off x="8211312" y="2670048"/>
            <a:ext cx="3182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초기 investment 상쇄 시점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누적 cash flow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연간 cash flow가 증가함에 따라 payback period이 단축됩니다.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658368" y="1700784"/>
          <a:ext cx="5577840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BENCH_TABLE"/>
          <p:cNvGraphicFramePr>
            <a:graphicFrameLocks noGrp="1"/>
          </p:cNvGraphicFramePr>
          <p:nvPr/>
        </p:nvGraphicFramePr>
        <p:xfrm>
          <a:off x="6419088" y="1700784"/>
          <a:ext cx="510235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2551176"/>
              </a:tblGrid>
              <a:tr h="90708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-420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0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90708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105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90708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125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2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90708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145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3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90708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155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4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리스크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주요 리스크는 파일럿 일반화 실패와 교육 지연입니다.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파일럿 일반화 실패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교육 지연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센서 추가비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236B48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marL="91440" marR="91440" marT="54864" marB="54864">
                    <a:solidFill>
                      <a:srgbClr val="EAF6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 권고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초기 investment를 승인하시면, 3.3년 내에 ROI를 달성할 수 있습니다.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조건: 파일럿 일반화 성공을 위한 추가 리스크 관리 계획이 구현되어야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