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title>
      <c:tx>
        <c:rich>
          <a:bodyPr/>
          <a:lstStyle/>
          <a:p>
            <a:r>
              <a:rPr sz="1300" b="1">
                <a:solidFill>
                  <a:srgbClr val="0B1F33"/>
                </a:solidFill>
                <a:latin typeface="Malgun Gothic"/>
              </a:rPr>
              <a:t>타임라인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이벤트</c:v>
                </c:pt>
              </c:strCache>
            </c:strRef>
          </c:tx>
          <c:spPr>
            <a:solidFill>
              <a:srgbClr val="2F6BFF"/>
            </a:solidFill>
            <a:ln>
              <a:solidFill>
                <a:srgbClr val="2F6BFF"/>
              </a:solidFill>
            </a:ln>
          </c:spPr>
          <c:dPt>
            <c:idx val="0"/>
            <c:spPr>
              <a:solidFill>
                <a:srgbClr val="2F6BFF"/>
              </a:solidFill>
              <a:ln>
                <a:solidFill>
                  <a:srgbClr val="2F6BFF"/>
                </a:solidFill>
              </a:ln>
            </c:spPr>
          </c:dPt>
          <c:dPt>
            <c:idx val="1"/>
            <c:spPr>
              <a:solidFill>
                <a:srgbClr val="2F6BFF"/>
              </a:solidFill>
              <a:ln>
                <a:solidFill>
                  <a:srgbClr val="2F6BFF"/>
                </a:solidFill>
              </a:ln>
            </c:spPr>
          </c:dPt>
          <c:dPt>
            <c:idx val="2"/>
            <c:spPr>
              <a:solidFill>
                <a:srgbClr val="2F6BFF"/>
              </a:solidFill>
              <a:ln>
                <a:solidFill>
                  <a:srgbClr val="2F6BFF"/>
                </a:solidFill>
              </a:ln>
            </c:spPr>
          </c:dPt>
          <c:dPt>
            <c:idx val="3"/>
            <c:spPr>
              <a:solidFill>
                <a:srgbClr val="2F6BFF"/>
              </a:solidFill>
              <a:ln>
                <a:solidFill>
                  <a:srgbClr val="2F6BFF"/>
                </a:solidFill>
              </a:ln>
            </c:spPr>
          </c:dPt>
          <c:dPt>
            <c:idx val="4"/>
            <c:spPr>
              <a:solidFill>
                <a:srgbClr val="2F6BFF"/>
              </a:solidFill>
              <a:ln>
                <a:solidFill>
                  <a:srgbClr val="2F6BFF"/>
                </a:solidFill>
              </a:ln>
            </c:spPr>
          </c:dPt>
          <c:cat>
            <c:strRef>
              <c:f>Sheet1!$A$2:$A$6</c:f>
              <c:strCache>
                <c:ptCount val="5"/>
                <c:pt idx="0">
                  <c:v>14:02</c:v>
                </c:pt>
                <c:pt idx="1">
                  <c:v>14:04</c:v>
                </c:pt>
                <c:pt idx="2">
                  <c:v>14:07</c:v>
                </c:pt>
                <c:pt idx="3">
                  <c:v>14:16</c:v>
                </c:pt>
                <c:pt idx="4">
                  <c:v>14:31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1.0</c:v>
                </c:pt>
                <c:pt idx="1">
                  <c:v>1.0</c:v>
                </c:pt>
                <c:pt idx="2">
                  <c:v>1.0</c:v>
                </c:pt>
                <c:pt idx="3">
                  <c:v>1.0</c:v>
                </c:pt>
                <c:pt idx="4">
                  <c:v>1.0</c:v>
                </c:pt>
              </c:numCache>
            </c:numRef>
          </c:val>
        </c:ser>
        <c:dLbls>
          <c:txPr>
            <a:bodyPr/>
            <a:lstStyle/>
            <a:p>
              <a:pPr>
                <a:defRPr sz="85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AAB7C6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9E1EA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AAB7C6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title>
      <c:tx>
        <c:rich>
          <a:bodyPr/>
          <a:lstStyle/>
          <a:p>
            <a:r>
              <a:rPr sz="1300" b="1">
                <a:solidFill>
                  <a:srgbClr val="0B1F33"/>
                </a:solidFill>
                <a:latin typeface="Malgun Gothic"/>
              </a:rPr>
              <a:t>결론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조치사항</c:v>
                </c:pt>
              </c:strCache>
            </c:strRef>
          </c:tx>
          <c:spPr>
            <a:solidFill>
              <a:srgbClr val="2F6BFF"/>
            </a:solidFill>
            <a:ln>
              <a:solidFill>
                <a:srgbClr val="2F6BFF"/>
              </a:solidFill>
            </a:ln>
          </c:spPr>
          <c:cat>
            <c:strRef>
              <c:f>Sheet1!$A$2:$A$3</c:f>
              <c:strCache>
                <c:ptCount val="2"/>
                <c:pt idx="0">
                  <c:v>분진 제거 후 재가동 (14:31)</c:v>
                </c:pt>
                <c:pt idx="1">
                  <c:v>진동 센서 수집 누락 복구 필요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1.0</c:v>
                </c:pt>
                <c:pt idx="1">
                  <c:v>1.0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불확실성</c:v>
                </c:pt>
              </c:strCache>
            </c:strRef>
          </c:tx>
          <c:spPr>
            <a:solidFill>
              <a:srgbClr val="00A6A6"/>
            </a:solidFill>
            <a:ln>
              <a:solidFill>
                <a:srgbClr val="00A6A6"/>
              </a:solidFill>
            </a:ln>
          </c:spPr>
          <c:cat>
            <c:strRef>
              <c:f>Sheet1!$A$2:$A$3</c:f>
              <c:strCache>
                <c:ptCount val="2"/>
                <c:pt idx="0">
                  <c:v>분진 제거 후 재가동 (14:31)</c:v>
                </c:pt>
                <c:pt idx="1">
                  <c:v>진동 센서 수집 누락 복구 필요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0.5</c:v>
                </c:pt>
                <c:pt idx="1">
                  <c:v>0.7</c:v>
                </c:pt>
              </c:numCache>
            </c:numRef>
          </c:val>
        </c:ser>
        <c:dLbls>
          <c:txPr>
            <a:bodyPr/>
            <a:lstStyle/>
            <a:p>
              <a:pPr>
                <a:defRPr sz="85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AAB7C6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9E1EA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AAB7C6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DECOR"/>
          <p:cNvSpPr/>
          <p:nvPr/>
        </p:nvSpPr>
        <p:spPr>
          <a:xfrm>
            <a:off x="731520" y="1298448"/>
            <a:ext cx="91440" cy="25146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ENCH_TITLE"/>
          <p:cNvSpPr txBox="1"/>
          <p:nvPr/>
        </p:nvSpPr>
        <p:spPr>
          <a:xfrm>
            <a:off x="1115568" y="1481328"/>
            <a:ext cx="978408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100" b="1">
                <a:solidFill>
                  <a:srgbClr val="FFFFFF"/>
                </a:solidFill>
                <a:latin typeface="Malgun Gothic"/>
              </a:rPr>
              <a:t>공장 사고 리뷰</a:t>
            </a:r>
          </a:p>
        </p:txBody>
      </p:sp>
      <p:sp>
        <p:nvSpPr>
          <p:cNvPr id="6" name="BENCH_SUBTITLE"/>
          <p:cNvSpPr txBox="1"/>
          <p:nvPr/>
        </p:nvSpPr>
        <p:spPr>
          <a:xfrm>
            <a:off x="1143000" y="2724912"/>
            <a:ext cx="9326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D6E0EA"/>
                </a:solidFill>
                <a:latin typeface="Malgun Gothic"/>
              </a:rPr>
              <a:t>사건 타임라인, 직접 트리거, 근본 원인 분석 및 조치사항</a:t>
            </a:r>
          </a:p>
        </p:txBody>
      </p:sp>
      <p:sp>
        <p:nvSpPr>
          <p:cNvPr id="7" name="BENCH_COVER_TAG"/>
          <p:cNvSpPr txBox="1"/>
          <p:nvPr/>
        </p:nvSpPr>
        <p:spPr>
          <a:xfrm>
            <a:off x="1143000" y="5989320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7FA6FF"/>
                </a:solidFill>
                <a:latin typeface="Malgun Gothic"/>
              </a:rPr>
              <a:t>DECISION BRIEF</a:t>
            </a:r>
          </a:p>
        </p:txBody>
      </p:sp>
      <p:sp>
        <p:nvSpPr>
          <p:cNvPr id="8" name="BENCH_PAGE"/>
          <p:cNvSpPr txBox="1"/>
          <p:nvPr/>
        </p:nvSpPr>
        <p:spPr>
          <a:xfrm>
            <a:off x="11228832" y="6473952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AB7C6"/>
                </a:solidFill>
                <a:latin typeface="Malgun Gothic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타임라인</a:t>
            </a:r>
          </a:p>
        </p:txBody>
      </p:sp>
      <p:sp>
        <p:nvSpPr>
          <p:cNvPr id="5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2</a:t>
            </a:r>
          </a:p>
        </p:txBody>
      </p:sp>
      <p:sp>
        <p:nvSpPr>
          <p:cNvPr id="7" name="BENCH_TAKEAWAY_BG"/>
          <p:cNvSpPr/>
          <p:nvPr/>
        </p:nvSpPr>
        <p:spPr>
          <a:xfrm>
            <a:off x="621792" y="1042415"/>
            <a:ext cx="10927080" cy="53035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ENCH_TAKEAWAY"/>
          <p:cNvSpPr txBox="1"/>
          <p:nvPr/>
        </p:nvSpPr>
        <p:spPr>
          <a:xfrm>
            <a:off x="841248" y="1124712"/>
            <a:ext cx="10469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Malgun Gothic"/>
              </a:rPr>
              <a:t>사건 발생 시간과 주요 이벤트를 시각화합니다.</a:t>
            </a:r>
          </a:p>
        </p:txBody>
      </p:sp>
      <p:graphicFrame>
        <p:nvGraphicFramePr>
          <p:cNvPr id="9" name="BENCH_CHART"/>
          <p:cNvGraphicFramePr>
            <a:graphicFrameLocks noGrp="1"/>
          </p:cNvGraphicFramePr>
          <p:nvPr/>
        </p:nvGraphicFramePr>
        <p:xfrm>
          <a:off x="713232" y="1700784"/>
          <a:ext cx="10771632" cy="453542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직접 트리거 분석</a:t>
            </a:r>
          </a:p>
        </p:txBody>
      </p:sp>
      <p:sp>
        <p:nvSpPr>
          <p:cNvPr id="5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3</a:t>
            </a:r>
          </a:p>
        </p:txBody>
      </p:sp>
      <p:sp>
        <p:nvSpPr>
          <p:cNvPr id="7" name="BENCH_TAKEAWAY_BG"/>
          <p:cNvSpPr/>
          <p:nvPr/>
        </p:nvSpPr>
        <p:spPr>
          <a:xfrm>
            <a:off x="621792" y="1042415"/>
            <a:ext cx="10927080" cy="53035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ENCH_TAKEAWAY"/>
          <p:cNvSpPr txBox="1"/>
          <p:nvPr/>
        </p:nvSpPr>
        <p:spPr>
          <a:xfrm>
            <a:off x="841248" y="1124712"/>
            <a:ext cx="10469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Malgun Gothic"/>
              </a:rPr>
              <a:t>고온 경보와 보호정지가 직접적인 트리거로 작용했습니다.</a:t>
            </a:r>
          </a:p>
        </p:txBody>
      </p:sp>
      <p:sp>
        <p:nvSpPr>
          <p:cNvPr id="9" name="BENCH_INSIGHT_CARD"/>
          <p:cNvSpPr/>
          <p:nvPr/>
        </p:nvSpPr>
        <p:spPr>
          <a:xfrm>
            <a:off x="658368" y="1823679"/>
            <a:ext cx="10863072" cy="1170432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ENCH_DECOR"/>
          <p:cNvSpPr/>
          <p:nvPr/>
        </p:nvSpPr>
        <p:spPr>
          <a:xfrm>
            <a:off x="658368" y="1823679"/>
            <a:ext cx="54864" cy="117043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ENCH_BODY"/>
          <p:cNvSpPr txBox="1"/>
          <p:nvPr/>
        </p:nvSpPr>
        <p:spPr>
          <a:xfrm>
            <a:off x="859536" y="1969983"/>
            <a:ext cx="10515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>
                <a:solidFill>
                  <a:srgbClr val="172033"/>
                </a:solidFill>
                <a:latin typeface="Malgun Gothic"/>
              </a:rPr>
              <a:t>고온 경보 발생 (14:02)</a:t>
            </a:r>
          </a:p>
        </p:txBody>
      </p:sp>
      <p:sp>
        <p:nvSpPr>
          <p:cNvPr id="12" name="BENCH_INSIGHT_CARD"/>
          <p:cNvSpPr/>
          <p:nvPr/>
        </p:nvSpPr>
        <p:spPr>
          <a:xfrm>
            <a:off x="658368" y="3140415"/>
            <a:ext cx="10863072" cy="1170432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ENCH_DECOR"/>
          <p:cNvSpPr/>
          <p:nvPr/>
        </p:nvSpPr>
        <p:spPr>
          <a:xfrm>
            <a:off x="658368" y="3140415"/>
            <a:ext cx="54864" cy="117043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ENCH_BODY"/>
          <p:cNvSpPr txBox="1"/>
          <p:nvPr/>
        </p:nvSpPr>
        <p:spPr>
          <a:xfrm>
            <a:off x="859536" y="3286719"/>
            <a:ext cx="10515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>
                <a:solidFill>
                  <a:srgbClr val="172033"/>
                </a:solidFill>
                <a:latin typeface="Malgun Gothic"/>
              </a:rPr>
              <a:t>보호정지 (14:07)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근본 원인 불확실성</a:t>
            </a:r>
          </a:p>
        </p:txBody>
      </p:sp>
      <p:sp>
        <p:nvSpPr>
          <p:cNvPr id="5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4</a:t>
            </a:r>
          </a:p>
        </p:txBody>
      </p:sp>
      <p:sp>
        <p:nvSpPr>
          <p:cNvPr id="7" name="BENCH_TAKEAWAY_BG"/>
          <p:cNvSpPr/>
          <p:nvPr/>
        </p:nvSpPr>
        <p:spPr>
          <a:xfrm>
            <a:off x="621792" y="1042415"/>
            <a:ext cx="10927080" cy="53035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ENCH_TAKEAWAY"/>
          <p:cNvSpPr txBox="1"/>
          <p:nvPr/>
        </p:nvSpPr>
        <p:spPr>
          <a:xfrm>
            <a:off x="841248" y="1124712"/>
            <a:ext cx="10469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Malgun Gothic"/>
              </a:rPr>
              <a:t>분진이 근본 원인이지만, 진동 데이터가 누락되어 있습니다.</a:t>
            </a:r>
          </a:p>
        </p:txBody>
      </p:sp>
      <p:sp>
        <p:nvSpPr>
          <p:cNvPr id="9" name="BENCH_INSIGHT_CARD"/>
          <p:cNvSpPr/>
          <p:nvPr/>
        </p:nvSpPr>
        <p:spPr>
          <a:xfrm>
            <a:off x="658368" y="1823679"/>
            <a:ext cx="10863072" cy="1170432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ENCH_DECOR"/>
          <p:cNvSpPr/>
          <p:nvPr/>
        </p:nvSpPr>
        <p:spPr>
          <a:xfrm>
            <a:off x="658368" y="1823679"/>
            <a:ext cx="54864" cy="117043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ENCH_BODY"/>
          <p:cNvSpPr txBox="1"/>
          <p:nvPr/>
        </p:nvSpPr>
        <p:spPr>
          <a:xfrm>
            <a:off x="859536" y="1969983"/>
            <a:ext cx="10515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>
                <a:solidFill>
                  <a:srgbClr val="172033"/>
                </a:solidFill>
                <a:latin typeface="Malgun Gothic"/>
              </a:rPr>
              <a:t>분진 제거 후 재가동 (14:31)</a:t>
            </a:r>
          </a:p>
        </p:txBody>
      </p:sp>
      <p:sp>
        <p:nvSpPr>
          <p:cNvPr id="12" name="BENCH_INSIGHT_CARD"/>
          <p:cNvSpPr/>
          <p:nvPr/>
        </p:nvSpPr>
        <p:spPr>
          <a:xfrm>
            <a:off x="658368" y="3140415"/>
            <a:ext cx="10863072" cy="1170432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ENCH_DECOR"/>
          <p:cNvSpPr/>
          <p:nvPr/>
        </p:nvSpPr>
        <p:spPr>
          <a:xfrm>
            <a:off x="658368" y="3140415"/>
            <a:ext cx="54864" cy="117043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ENCH_BODY"/>
          <p:cNvSpPr txBox="1"/>
          <p:nvPr/>
        </p:nvSpPr>
        <p:spPr>
          <a:xfrm>
            <a:off x="859536" y="3286719"/>
            <a:ext cx="10515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>
                <a:solidFill>
                  <a:srgbClr val="172033"/>
                </a:solidFill>
                <a:latin typeface="Malgun Gothic"/>
              </a:rPr>
              <a:t>진동 센서 수집 누락 복구 필요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조치사항</a:t>
            </a:r>
          </a:p>
        </p:txBody>
      </p:sp>
      <p:sp>
        <p:nvSpPr>
          <p:cNvPr id="5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5</a:t>
            </a:r>
          </a:p>
        </p:txBody>
      </p:sp>
      <p:sp>
        <p:nvSpPr>
          <p:cNvPr id="7" name="BENCH_TAKEAWAY_BG"/>
          <p:cNvSpPr/>
          <p:nvPr/>
        </p:nvSpPr>
        <p:spPr>
          <a:xfrm>
            <a:off x="621792" y="1042415"/>
            <a:ext cx="10927080" cy="53035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ENCH_TAKEAWAY"/>
          <p:cNvSpPr txBox="1"/>
          <p:nvPr/>
        </p:nvSpPr>
        <p:spPr>
          <a:xfrm>
            <a:off x="841248" y="1124712"/>
            <a:ext cx="10469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Malgun Gothic"/>
              </a:rPr>
              <a:t>각 조치사항은 실제 담당자와 마감일을 포함합니다.</a:t>
            </a:r>
          </a:p>
        </p:txBody>
      </p:sp>
      <p:graphicFrame>
        <p:nvGraphicFramePr>
          <p:cNvPr id="9" name="BENCH_TABLE"/>
          <p:cNvGraphicFramePr>
            <a:graphicFrameLocks noGrp="1"/>
          </p:cNvGraphicFramePr>
          <p:nvPr/>
        </p:nvGraphicFramePr>
        <p:xfrm>
          <a:off x="658368" y="1700784"/>
          <a:ext cx="10863072" cy="4535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31536"/>
                <a:gridCol w="2715768"/>
                <a:gridCol w="2715768"/>
              </a:tblGrid>
              <a:tr h="1133856">
                <a:tc>
                  <a:txBody>
                    <a:bodyPr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조치</a:t>
                      </a:r>
                    </a:p>
                  </a:txBody>
                  <a:tcPr marL="91440" marR="91440" marT="54864" marB="54864">
                    <a:solidFill>
                      <a:srgbClr val="0B1F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담당자</a:t>
                      </a:r>
                    </a:p>
                  </a:txBody>
                  <a:tcPr marL="91440" marR="91440" marT="54864" marB="54864">
                    <a:solidFill>
                      <a:srgbClr val="0B1F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마감일</a:t>
                      </a:r>
                    </a:p>
                  </a:txBody>
                  <a:tcPr marL="91440" marR="91440" marT="54864" marB="54864">
                    <a:solidFill>
                      <a:srgbClr val="0B1F33"/>
                    </a:solidFill>
                  </a:tcPr>
                </a:tc>
              </a:tr>
              <a:tr h="1133856"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172033"/>
                          </a:solidFill>
                          <a:latin typeface="Malgun Gothic"/>
                        </a:rPr>
                        <a:t>흡입구 청소주기 4주 준수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200" b="1">
                          <a:solidFill>
                            <a:srgbClr val="172033"/>
                          </a:solidFill>
                          <a:latin typeface="Malgun Gothic"/>
                        </a:rPr>
                        <a:t>설비팀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200" b="1">
                          <a:solidFill>
                            <a:srgbClr val="172033"/>
                          </a:solidFill>
                          <a:latin typeface="Malgun Gothic"/>
                        </a:rPr>
                        <a:t>즉시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1133856"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172033"/>
                          </a:solidFill>
                          <a:latin typeface="Malgun Gothic"/>
                        </a:rPr>
                        <a:t>진동센서 수집 누락 복구</a:t>
                      </a:r>
                    </a:p>
                  </a:txBody>
                  <a:tcPr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200" b="1">
                          <a:solidFill>
                            <a:srgbClr val="172033"/>
                          </a:solidFill>
                          <a:latin typeface="Malgun Gothic"/>
                        </a:rPr>
                        <a:t>자동화팀</a:t>
                      </a:r>
                    </a:p>
                  </a:txBody>
                  <a:tcPr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200" b="1">
                          <a:solidFill>
                            <a:srgbClr val="172033"/>
                          </a:solidFill>
                          <a:latin typeface="Malgun Gothic"/>
                        </a:rPr>
                        <a:t>2주</a:t>
                      </a:r>
                    </a:p>
                  </a:txBody>
                  <a:tcPr marL="91440" marR="91440" marT="54864" marB="54864">
                    <a:solidFill>
                      <a:srgbClr val="F5F7FA"/>
                    </a:solidFill>
                  </a:tcPr>
                </a:tc>
              </a:tr>
              <a:tr h="1133856"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172033"/>
                          </a:solidFill>
                          <a:latin typeface="Malgun Gothic"/>
                        </a:rPr>
                        <a:t>과열 RCA 재검증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200" b="1">
                          <a:solidFill>
                            <a:srgbClr val="172033"/>
                          </a:solidFill>
                          <a:latin typeface="Malgun Gothic"/>
                        </a:rPr>
                        <a:t>품질팀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200" b="1">
                          <a:solidFill>
                            <a:srgbClr val="172033"/>
                          </a:solidFill>
                          <a:latin typeface="Malgun Gothic"/>
                        </a:rPr>
                        <a:t>1주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결론</a:t>
            </a:r>
          </a:p>
        </p:txBody>
      </p:sp>
      <p:sp>
        <p:nvSpPr>
          <p:cNvPr id="5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6</a:t>
            </a:r>
          </a:p>
        </p:txBody>
      </p:sp>
      <p:sp>
        <p:nvSpPr>
          <p:cNvPr id="7" name="BENCH_TAKEAWAY_BG"/>
          <p:cNvSpPr/>
          <p:nvPr/>
        </p:nvSpPr>
        <p:spPr>
          <a:xfrm>
            <a:off x="621792" y="1042415"/>
            <a:ext cx="10927080" cy="53035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ENCH_TAKEAWAY"/>
          <p:cNvSpPr txBox="1"/>
          <p:nvPr/>
        </p:nvSpPr>
        <p:spPr>
          <a:xfrm>
            <a:off x="841248" y="1124712"/>
            <a:ext cx="10469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Malgun Gothic"/>
              </a:rPr>
              <a:t>사건의 원인을 과도하게 단정하지 않고, 불확실성을 인정합니다.</a:t>
            </a:r>
          </a:p>
        </p:txBody>
      </p:sp>
      <p:sp>
        <p:nvSpPr>
          <p:cNvPr id="9" name="BENCH_CARD"/>
          <p:cNvSpPr/>
          <p:nvPr/>
        </p:nvSpPr>
        <p:spPr>
          <a:xfrm>
            <a:off x="658368" y="1700784"/>
            <a:ext cx="3200400" cy="3922776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ENCH_BODY"/>
          <p:cNvSpPr txBox="1"/>
          <p:nvPr/>
        </p:nvSpPr>
        <p:spPr>
          <a:xfrm>
            <a:off x="859536" y="1828800"/>
            <a:ext cx="2798064" cy="3666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450" b="0">
                <a:solidFill>
                  <a:srgbClr val="172033"/>
                </a:solidFill>
                <a:latin typeface="Malgun Gothic"/>
              </a:rPr>
              <a:t>• 분진이 근본 원인이지만, 진동 데이터가 누락되어 있습니다.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450" b="0">
                <a:solidFill>
                  <a:srgbClr val="172033"/>
                </a:solidFill>
                <a:latin typeface="Malgun Gothic"/>
              </a:rPr>
              <a:t>• 조치사항은 실제 담당자와 마감일을 포함합니다.</a:t>
            </a:r>
          </a:p>
        </p:txBody>
      </p:sp>
      <p:graphicFrame>
        <p:nvGraphicFramePr>
          <p:cNvPr id="11" name="BENCH_CHART"/>
          <p:cNvGraphicFramePr>
            <a:graphicFrameLocks noGrp="1"/>
          </p:cNvGraphicFramePr>
          <p:nvPr/>
        </p:nvGraphicFramePr>
        <p:xfrm>
          <a:off x="4069080" y="1700784"/>
          <a:ext cx="7452360" cy="392277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BENCH_CALLOUT_BG"/>
          <p:cNvSpPr/>
          <p:nvPr/>
        </p:nvSpPr>
        <p:spPr>
          <a:xfrm>
            <a:off x="658368" y="5779008"/>
            <a:ext cx="10863072" cy="475488"/>
          </a:xfrm>
          <a:prstGeom prst="round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ENCH_CALLOUT"/>
          <p:cNvSpPr txBox="1"/>
          <p:nvPr/>
        </p:nvSpPr>
        <p:spPr>
          <a:xfrm>
            <a:off x="868680" y="5879592"/>
            <a:ext cx="10442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결론: 분진이 근본 원인으로 단정하지 않고, 불확실성을 인정하며 조치사항을 실천한다.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Slide 7</a:t>
            </a:r>
          </a:p>
        </p:txBody>
      </p:sp>
      <p:sp>
        <p:nvSpPr>
          <p:cNvPr id="5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7</a:t>
            </a:r>
          </a:p>
        </p:txBody>
      </p:sp>
      <p:sp>
        <p:nvSpPr>
          <p:cNvPr id="7" name="BENCH_TAKEAWAY_BG"/>
          <p:cNvSpPr/>
          <p:nvPr/>
        </p:nvSpPr>
        <p:spPr>
          <a:xfrm>
            <a:off x="621792" y="1042415"/>
            <a:ext cx="10927080" cy="53035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ENCH_TAKEAWAY"/>
          <p:cNvSpPr txBox="1"/>
          <p:nvPr/>
        </p:nvSpPr>
        <p:spPr>
          <a:xfrm>
            <a:off x="841248" y="1124712"/>
            <a:ext cx="10469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Malgun Gothic"/>
              </a:rPr>
              <a:t>공장 사고 리뷰의 주요 결론과 조치사항을 요약합니다.</a:t>
            </a:r>
          </a:p>
        </p:txBody>
      </p:sp>
      <p:sp>
        <p:nvSpPr>
          <p:cNvPr id="9" name="BENCH_DECISION_CARD"/>
          <p:cNvSpPr/>
          <p:nvPr/>
        </p:nvSpPr>
        <p:spPr>
          <a:xfrm>
            <a:off x="7955279" y="1700784"/>
            <a:ext cx="3566160" cy="2084831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ENCH_DECISION_ACCENT"/>
          <p:cNvSpPr/>
          <p:nvPr/>
        </p:nvSpPr>
        <p:spPr>
          <a:xfrm>
            <a:off x="7955279" y="1700784"/>
            <a:ext cx="73152" cy="2084831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ENCH_DECISION_LABEL"/>
          <p:cNvSpPr txBox="1"/>
          <p:nvPr/>
        </p:nvSpPr>
        <p:spPr>
          <a:xfrm>
            <a:off x="8229600" y="1883664"/>
            <a:ext cx="2880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D97706"/>
                </a:solidFill>
                <a:latin typeface="Malgun Gothic"/>
              </a:rPr>
              <a:t>DECISION</a:t>
            </a:r>
          </a:p>
        </p:txBody>
      </p:sp>
      <p:sp>
        <p:nvSpPr>
          <p:cNvPr id="12" name="BENCH_DECISION"/>
          <p:cNvSpPr txBox="1"/>
          <p:nvPr/>
        </p:nvSpPr>
        <p:spPr>
          <a:xfrm>
            <a:off x="8229600" y="2221991"/>
            <a:ext cx="2880360" cy="12618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1">
                <a:solidFill>
                  <a:srgbClr val="0B1F33"/>
                </a:solidFill>
                <a:latin typeface="Malgun Gothic"/>
              </a:rPr>
              <a:t>결론: 분진이 근본 원인으로 단정하지 않고, 불확실성을 인정하며 조치사항을 실천한다.</a:t>
            </a:r>
          </a:p>
        </p:txBody>
      </p:sp>
      <p:sp>
        <p:nvSpPr>
          <p:cNvPr id="13" name="BENCH_INSIGHT_CARD"/>
          <p:cNvSpPr/>
          <p:nvPr/>
        </p:nvSpPr>
        <p:spPr>
          <a:xfrm>
            <a:off x="658368" y="1786920"/>
            <a:ext cx="6967728" cy="1170432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ENCH_DECOR"/>
          <p:cNvSpPr/>
          <p:nvPr/>
        </p:nvSpPr>
        <p:spPr>
          <a:xfrm>
            <a:off x="658368" y="1786920"/>
            <a:ext cx="54864" cy="117043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ENCH_BODY"/>
          <p:cNvSpPr txBox="1"/>
          <p:nvPr/>
        </p:nvSpPr>
        <p:spPr>
          <a:xfrm>
            <a:off x="859536" y="1933224"/>
            <a:ext cx="6620256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Malgun Gothic"/>
              </a:rPr>
              <a:t>분진이 근본 원인이지만, 진동 데이터가 누락되어 있습니다.</a:t>
            </a:r>
          </a:p>
        </p:txBody>
      </p:sp>
      <p:sp>
        <p:nvSpPr>
          <p:cNvPr id="16" name="BENCH_INSIGHT_CARD"/>
          <p:cNvSpPr/>
          <p:nvPr/>
        </p:nvSpPr>
        <p:spPr>
          <a:xfrm>
            <a:off x="658368" y="3103656"/>
            <a:ext cx="6967728" cy="1170432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ENCH_DECOR"/>
          <p:cNvSpPr/>
          <p:nvPr/>
        </p:nvSpPr>
        <p:spPr>
          <a:xfrm>
            <a:off x="658368" y="3103656"/>
            <a:ext cx="54864" cy="117043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ENCH_BODY"/>
          <p:cNvSpPr txBox="1"/>
          <p:nvPr/>
        </p:nvSpPr>
        <p:spPr>
          <a:xfrm>
            <a:off x="859536" y="3249960"/>
            <a:ext cx="6620256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Malgun Gothic"/>
              </a:rPr>
              <a:t>조치사항은 실제 담당자와 마감일을 포함합니다.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