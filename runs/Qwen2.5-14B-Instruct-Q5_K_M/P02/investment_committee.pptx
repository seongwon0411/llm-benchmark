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누적 현금흐름 (백만원)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1"/>
            <c:spPr>
              <a:solidFill>
                <a:srgbClr val="C43D3D"/>
              </a:solidFill>
              <a:ln>
                <a:solidFill>
                  <a:srgbClr val="C43D3D"/>
                </a:solidFill>
              </a:ln>
            </c:spPr>
          </c:dPt>
          <c:dPt>
            <c:idx val="2"/>
            <c:spPr>
              <a:solidFill>
                <a:srgbClr val="C43D3D"/>
              </a:solidFill>
              <a:ln>
                <a:solidFill>
                  <a:srgbClr val="C43D3D"/>
                </a:solidFill>
              </a:ln>
            </c:spPr>
          </c:dPt>
          <c:dPt>
            <c:idx val="3"/>
            <c:spPr>
              <a:solidFill>
                <a:srgbClr val="C43D3D"/>
              </a:solidFill>
              <a:ln>
                <a:solidFill>
                  <a:srgbClr val="C43D3D"/>
                </a:solidFill>
              </a:ln>
            </c:spPr>
          </c:dPt>
          <c:dPt>
            <c:idx val="4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0년차</c:v>
                </c:pt>
                <c:pt idx="1">
                  <c:v>1년차</c:v>
                </c:pt>
                <c:pt idx="2">
                  <c:v>2년차</c:v>
                </c:pt>
                <c:pt idx="3">
                  <c:v>3년차</c:v>
                </c:pt>
                <c:pt idx="4">
                  <c:v>4년차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-215.0</c:v>
                </c:pt>
                <c:pt idx="2">
                  <c:v>-90.0</c:v>
                </c:pt>
                <c:pt idx="3">
                  <c:v>-45.0</c:v>
                </c:pt>
                <c:pt idx="4">
                  <c:v>10.0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투자심의위원회 보고서</a:t>
            </a:r>
          </a:p>
        </p:txBody>
      </p:sp>
      <p:sp>
        <p:nvSpPr>
          <p:cNvPr id="6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7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누적 현금 흐름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투자비 포함 누적 관점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투자 후 4년차에 회수 시점 도달</a:t>
            </a:r>
          </a:p>
        </p:txBody>
      </p:sp>
      <p:sp>
        <p:nvSpPr>
          <p:cNvPr id="10" name="BENCH_CARD"/>
          <p:cNvSpPr/>
          <p:nvPr/>
        </p:nvSpPr>
        <p:spPr>
          <a:xfrm>
            <a:off x="658368" y="1773936"/>
            <a:ext cx="3200400" cy="446227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01952"/>
            <a:ext cx="27980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현금흐름은 단순 매출이 아니라 실제 현금 유입/유출을 반영한다.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누적 현금 흐름은 투자비 포함으로 계산된다.</a:t>
            </a:r>
          </a:p>
        </p:txBody>
      </p:sp>
      <p:graphicFrame>
        <p:nvGraphicFramePr>
          <p:cNvPr id="12" name="BENCH_CHART"/>
          <p:cNvGraphicFramePr>
            <a:graphicFrameLocks noGrp="1"/>
          </p:cNvGraphicFramePr>
          <p:nvPr/>
        </p:nvGraphicFramePr>
        <p:xfrm>
          <a:off x="4069080" y="1773936"/>
          <a:ext cx="7452360" cy="44622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회수 시점 (Payback Period)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투자 회수 시점은 3년차에 도달한다.</a:t>
            </a:r>
          </a:p>
        </p:txBody>
      </p:sp>
      <p:sp>
        <p:nvSpPr>
          <p:cNvPr id="9" name="BENCH_KPI_CARD"/>
          <p:cNvSpPr/>
          <p:nvPr/>
        </p:nvSpPr>
        <p:spPr>
          <a:xfrm>
            <a:off x="658368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00784"/>
            <a:ext cx="64008" cy="111556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KPI_LABEL"/>
          <p:cNvSpPr txBox="1"/>
          <p:nvPr/>
        </p:nvSpPr>
        <p:spPr>
          <a:xfrm>
            <a:off x="859536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회수 시점</a:t>
            </a:r>
          </a:p>
        </p:txBody>
      </p:sp>
      <p:sp>
        <p:nvSpPr>
          <p:cNvPr id="12" name="BENCH_KPI_VALUE"/>
          <p:cNvSpPr txBox="1"/>
          <p:nvPr/>
        </p:nvSpPr>
        <p:spPr>
          <a:xfrm>
            <a:off x="859536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3년차</a:t>
            </a:r>
          </a:p>
        </p:txBody>
      </p:sp>
      <p:sp>
        <p:nvSpPr>
          <p:cNvPr id="13" name="BENCH_KPI_CARD"/>
          <p:cNvSpPr/>
          <p:nvPr/>
        </p:nvSpPr>
        <p:spPr>
          <a:xfrm>
            <a:off x="6172200" y="1700784"/>
            <a:ext cx="53492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172200" y="1700784"/>
            <a:ext cx="64008" cy="11155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KPI_LABEL"/>
          <p:cNvSpPr txBox="1"/>
          <p:nvPr/>
        </p:nvSpPr>
        <p:spPr>
          <a:xfrm>
            <a:off x="6373368" y="184708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67085"/>
                </a:solidFill>
                <a:latin typeface="Malgun Gothic"/>
              </a:rPr>
              <a:t>투자 회수 비율</a:t>
            </a:r>
          </a:p>
        </p:txBody>
      </p:sp>
      <p:sp>
        <p:nvSpPr>
          <p:cNvPr id="16" name="BENCH_KPI_VALUE"/>
          <p:cNvSpPr txBox="1"/>
          <p:nvPr/>
        </p:nvSpPr>
        <p:spPr>
          <a:xfrm>
            <a:off x="6373368" y="2093976"/>
            <a:ext cx="5020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1F33"/>
                </a:solidFill>
                <a:latin typeface="Malgun Gothic"/>
              </a:rPr>
              <a:t>70%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658368" y="3123224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658368" y="3123224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859536" y="3269528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회수 시점은 투자비를 상환하는데 걸리는 시간을 의미한다.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리스크 분석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투자의 주요 리스크와 그에 따른 완화책을 제시한다.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파일럿 일반화 실패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9B1C1C"/>
                          </a:solidFill>
                          <a:latin typeface="Malgun Gothic"/>
                        </a:rPr>
                        <a:t>높음</a:t>
                      </a:r>
                    </a:p>
                  </a:txBody>
                  <a:tcPr marL="91440" marR="91440" marT="54864" marB="54864">
                    <a:solidFill>
                      <a:srgbClr val="FDECEC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교육 지연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센서 추가비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1">
                          <a:solidFill>
                            <a:srgbClr val="236B48"/>
                          </a:solidFill>
                          <a:latin typeface="Malgun Gothic"/>
                        </a:rPr>
                        <a:t>낮음</a:t>
                      </a:r>
                    </a:p>
                  </a:txBody>
                  <a:tcPr marL="91440" marR="91440" marT="54864" marB="54864">
                    <a:solidFill>
                      <a:srgbClr val="EAF6E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8A4B08"/>
                          </a:solidFill>
                          <a:latin typeface="Malgun Gothic"/>
                        </a:rPr>
                        <a:t>중</a:t>
                      </a:r>
                    </a:p>
                  </a:txBody>
                  <a:tcPr marL="91440" marR="91440" marT="54864" marB="54864">
                    <a:solidFill>
                      <a:srgbClr val="FFF4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