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title>
      <c:tx>
        <c:rich>
          <a:bodyPr/>
          <a:lstStyle/>
          <a:p>
            <a:r>
              <a:rPr sz="1300" b="1">
                <a:solidFill>
                  <a:srgbClr val="0B1F33"/>
                </a:solidFill>
                <a:latin typeface="Malgun Gothic"/>
              </a:rPr>
              <a:t>전체공장 KPI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생산량</c:v>
                </c:pt>
              </c:strCache>
            </c:strRef>
          </c:tx>
          <c:spPr>
            <a:solidFill>
              <a:srgbClr val="2F6BFF"/>
            </a:solidFill>
            <a:ln>
              <a:solidFill>
                <a:srgbClr val="2F6BFF"/>
              </a:solidFill>
            </a:ln>
          </c:spPr>
          <c:cat>
            <c:strRef>
              <c:f>Sheet1!$A$2:$A$3</c:f>
              <c:strCache>
                <c:ptCount val="2"/>
                <c:pt idx="0">
                  <c:v>2024</c:v>
                </c:pt>
                <c:pt idx="1">
                  <c:v>2025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120000.0</c:v>
                </c:pt>
                <c:pt idx="1">
                  <c:v>128000.0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결함률</c:v>
                </c:pt>
              </c:strCache>
            </c:strRef>
          </c:tx>
          <c:spPr>
            <a:solidFill>
              <a:srgbClr val="00A6A6"/>
            </a:solidFill>
            <a:ln>
              <a:solidFill>
                <a:srgbClr val="00A6A6"/>
              </a:solidFill>
            </a:ln>
          </c:spPr>
          <c:cat>
            <c:strRef>
              <c:f>Sheet1!$A$2:$A$3</c:f>
              <c:strCache>
                <c:ptCount val="2"/>
                <c:pt idx="0">
                  <c:v>2024</c:v>
                </c:pt>
                <c:pt idx="1">
                  <c:v>2025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0.052</c:v>
                </c:pt>
                <c:pt idx="1">
                  <c:v>0.048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OEE</c:v>
                </c:pt>
              </c:strCache>
            </c:strRef>
          </c:tx>
          <c:spPr>
            <a:solidFill>
              <a:srgbClr val="7C5CFC"/>
            </a:solidFill>
            <a:ln>
              <a:solidFill>
                <a:srgbClr val="7C5CFC"/>
              </a:solidFill>
            </a:ln>
          </c:spPr>
          <c:cat>
            <c:strRef>
              <c:f>Sheet1!$A$2:$A$3</c:f>
              <c:strCache>
                <c:ptCount val="2"/>
                <c:pt idx="0">
                  <c:v>2024</c:v>
                </c:pt>
                <c:pt idx="1">
                  <c:v>2025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0.71</c:v>
                </c:pt>
                <c:pt idx="1">
                  <c:v>0.74</c:v>
                </c:pt>
              </c:numCache>
            </c:numRef>
          </c:val>
        </c:ser>
        <c:dLbls>
          <c:txPr>
            <a:bodyPr/>
            <a:lstStyle/>
            <a:p>
              <a:pPr>
                <a:defRPr sz="85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AAB7C6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9E1EA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AAB7C6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title>
      <c:tx>
        <c:rich>
          <a:bodyPr/>
          <a:lstStyle/>
          <a:p>
            <a:r>
              <a:rPr sz="1300" b="1">
                <a:solidFill>
                  <a:srgbClr val="0B1F33"/>
                </a:solidFill>
                <a:latin typeface="Malgun Gothic"/>
              </a:rPr>
              <a:t>성과 변화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생산량 증가율</c:v>
                </c:pt>
              </c:strCache>
            </c:strRef>
          </c:tx>
          <c:spPr>
            <a:solidFill>
              <a:srgbClr val="2F6BFF"/>
            </a:solidFill>
            <a:ln w="28575">
              <a:solidFill>
                <a:srgbClr val="2F6BFF"/>
              </a:solidFill>
            </a:ln>
          </c:spPr>
          <c:marker>
            <c:symbol val="circle"/>
            <c:size val="6"/>
          </c:marker>
          <c:cat>
            <c:strRef>
              <c:f>Sheet1!$A$2:$A$3</c:f>
              <c:strCache>
                <c:ptCount val="2"/>
                <c:pt idx="0">
                  <c:v>2024</c:v>
                </c:pt>
                <c:pt idx="1">
                  <c:v>2025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1.33</c:v>
                </c:pt>
                <c:pt idx="1">
                  <c:v>1.0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결함률 감소율</c:v>
                </c:pt>
              </c:strCache>
            </c:strRef>
          </c:tx>
          <c:spPr>
            <a:solidFill>
              <a:srgbClr val="00A6A6"/>
            </a:solidFill>
            <a:ln w="28575">
              <a:solidFill>
                <a:srgbClr val="00A6A6"/>
              </a:solidFill>
            </a:ln>
          </c:spPr>
          <c:marker>
            <c:symbol val="circle"/>
            <c:size val="6"/>
          </c:marker>
          <c:cat>
            <c:strRef>
              <c:f>Sheet1!$A$2:$A$3</c:f>
              <c:strCache>
                <c:ptCount val="2"/>
                <c:pt idx="0">
                  <c:v>2024</c:v>
                </c:pt>
                <c:pt idx="1">
                  <c:v>2025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-0.769</c:v>
                </c:pt>
                <c:pt idx="1">
                  <c:v>-1.0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OEE 증가율</c:v>
                </c:pt>
              </c:strCache>
            </c:strRef>
          </c:tx>
          <c:spPr>
            <a:solidFill>
              <a:srgbClr val="7C5CFC"/>
            </a:solidFill>
            <a:ln w="28575">
              <a:solidFill>
                <a:srgbClr val="7C5CFC"/>
              </a:solidFill>
            </a:ln>
          </c:spPr>
          <c:marker>
            <c:symbol val="circle"/>
            <c:size val="6"/>
          </c:marker>
          <c:cat>
            <c:strRef>
              <c:f>Sheet1!$A$2:$A$3</c:f>
              <c:strCache>
                <c:ptCount val="2"/>
                <c:pt idx="0">
                  <c:v>2024</c:v>
                </c:pt>
                <c:pt idx="1">
                  <c:v>2025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0.4285714285714286</c:v>
                </c:pt>
                <c:pt idx="1">
                  <c:v>1.0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85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AAB7C6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9E1EA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AAB7C6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title>
      <c:tx>
        <c:rich>
          <a:bodyPr/>
          <a:lstStyle/>
          <a:p>
            <a:r>
              <a:rPr sz="1300" b="1">
                <a:solidFill>
                  <a:srgbClr val="0B1F33"/>
                </a:solidFill>
                <a:latin typeface="Malgun Gothic"/>
              </a:rPr>
              <a:t>파일럿 라인 KPI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생산량</c:v>
                </c:pt>
              </c:strCache>
            </c:strRef>
          </c:tx>
          <c:spPr>
            <a:solidFill>
              <a:srgbClr val="2F6BFF"/>
            </a:solidFill>
            <a:ln>
              <a:solidFill>
                <a:srgbClr val="2F6BFF"/>
              </a:solidFill>
            </a:ln>
          </c:spPr>
          <c:cat>
            <c:strRef>
              <c:f>Sheet1!$A$2:$A$2</c:f>
              <c:strCache>
                <c:ptCount val="1"/>
                <c:pt idx="0">
                  <c:v>파일럿 라인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35000.0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결함률</c:v>
                </c:pt>
              </c:strCache>
            </c:strRef>
          </c:tx>
          <c:spPr>
            <a:solidFill>
              <a:srgbClr val="00A6A6"/>
            </a:solidFill>
            <a:ln>
              <a:solidFill>
                <a:srgbClr val="00A6A6"/>
              </a:solidFill>
            </a:ln>
          </c:spPr>
          <c:cat>
            <c:strRef>
              <c:f>Sheet1!$A$2:$A$2</c:f>
              <c:strCache>
                <c:ptCount val="1"/>
                <c:pt idx="0">
                  <c:v>파일럿 라인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0.031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OEE</c:v>
                </c:pt>
              </c:strCache>
            </c:strRef>
          </c:tx>
          <c:spPr>
            <a:solidFill>
              <a:srgbClr val="7C5CFC"/>
            </a:solidFill>
            <a:ln>
              <a:solidFill>
                <a:srgbClr val="7C5CFC"/>
              </a:solidFill>
            </a:ln>
          </c:spPr>
          <c:cat>
            <c:strRef>
              <c:f>Sheet1!$A$2:$A$2</c:f>
              <c:strCache>
                <c:ptCount val="1"/>
                <c:pt idx="0">
                  <c:v>파일럿 라인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0.81</c:v>
                </c:pt>
              </c:numCache>
            </c:numRef>
          </c:val>
        </c:ser>
        <c:dLbls>
          <c:txPr>
            <a:bodyPr/>
            <a:lstStyle/>
            <a:p>
              <a:pPr>
                <a:defRPr sz="85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AAB7C6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D9E1EA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AAB7C6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title>
      <c:tx>
        <c:rich>
          <a:bodyPr/>
          <a:lstStyle/>
          <a:p>
            <a:r>
              <a:rPr sz="1300" b="1">
                <a:solidFill>
                  <a:srgbClr val="0B1F33"/>
                </a:solidFill>
                <a:latin typeface="Malgun Gothic"/>
              </a:rPr>
              <a:t>OEE 개선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OEE 증가율</c:v>
                </c:pt>
              </c:strCache>
            </c:strRef>
          </c:tx>
          <c:spPr>
            <a:solidFill>
              <a:srgbClr val="2F6BFF"/>
            </a:solidFill>
            <a:ln w="28575">
              <a:solidFill>
                <a:srgbClr val="2F6BFF"/>
              </a:solidFill>
            </a:ln>
          </c:spPr>
          <c:marker>
            <c:symbol val="circle"/>
            <c:size val="6"/>
          </c:marker>
          <c:cat>
            <c:strRef>
              <c:f>Sheet1!$A$2:$A$4</c:f>
              <c:strCache>
                <c:ptCount val="3"/>
                <c:pt idx="0">
                  <c:v>2024</c:v>
                </c:pt>
                <c:pt idx="1">
                  <c:v>2025</c:v>
                </c:pt>
                <c:pt idx="2">
                  <c:v>파일럿 라인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1.0</c:v>
                </c:pt>
                <c:pt idx="1">
                  <c:v>1.0422535211267605</c:v>
                </c:pt>
                <c:pt idx="2">
                  <c:v>1.093548387096774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85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AAB7C6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9E1EA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AAB7C6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DECOR"/>
          <p:cNvSpPr/>
          <p:nvPr/>
        </p:nvSpPr>
        <p:spPr>
          <a:xfrm>
            <a:off x="731520" y="1298448"/>
            <a:ext cx="91440" cy="25146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ENCH_TITLE"/>
          <p:cNvSpPr txBox="1"/>
          <p:nvPr/>
        </p:nvSpPr>
        <p:spPr>
          <a:xfrm>
            <a:off x="1115568" y="1481328"/>
            <a:ext cx="978408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100" b="1">
                <a:solidFill>
                  <a:srgbClr val="FFFFFF"/>
                </a:solidFill>
                <a:latin typeface="Malgun Gothic"/>
              </a:rPr>
              <a:t>공장 AI 성과 및 확대 검토 보고서</a:t>
            </a:r>
          </a:p>
        </p:txBody>
      </p:sp>
      <p:sp>
        <p:nvSpPr>
          <p:cNvPr id="6" name="BENCH_COVER_TAG"/>
          <p:cNvSpPr txBox="1"/>
          <p:nvPr/>
        </p:nvSpPr>
        <p:spPr>
          <a:xfrm>
            <a:off x="1143000" y="5989320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7FA6FF"/>
                </a:solidFill>
                <a:latin typeface="Malgun Gothic"/>
              </a:rPr>
              <a:t>DECISION BRIEF</a:t>
            </a:r>
          </a:p>
        </p:txBody>
      </p:sp>
      <p:sp>
        <p:nvSpPr>
          <p:cNvPr id="7" name="BENCH_PAGE"/>
          <p:cNvSpPr txBox="1"/>
          <p:nvPr/>
        </p:nvSpPr>
        <p:spPr>
          <a:xfrm>
            <a:off x="11228832" y="6473952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AB7C6"/>
                </a:solidFill>
                <a:latin typeface="Malgun Gothic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공장 KPI 개요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2</a:t>
            </a:r>
          </a:p>
        </p:txBody>
      </p:sp>
      <p:sp>
        <p:nvSpPr>
          <p:cNvPr id="7" name="BENCH_TAKEAWAY_BG"/>
          <p:cNvSpPr/>
          <p:nvPr/>
        </p:nvSpPr>
        <p:spPr>
          <a:xfrm>
            <a:off x="621792" y="1042415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AKEAWAY"/>
          <p:cNvSpPr txBox="1"/>
          <p:nvPr/>
        </p:nvSpPr>
        <p:spPr>
          <a:xfrm>
            <a:off x="841248" y="1124712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전체 공장의 주요 성과 지표를 요약합니다.</a:t>
            </a:r>
          </a:p>
        </p:txBody>
      </p:sp>
      <p:sp>
        <p:nvSpPr>
          <p:cNvPr id="9" name="BENCH_CARD"/>
          <p:cNvSpPr/>
          <p:nvPr/>
        </p:nvSpPr>
        <p:spPr>
          <a:xfrm>
            <a:off x="658368" y="1700784"/>
            <a:ext cx="3200400" cy="4535424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ENCH_BODY"/>
          <p:cNvSpPr txBox="1"/>
          <p:nvPr/>
        </p:nvSpPr>
        <p:spPr>
          <a:xfrm>
            <a:off x="859536" y="1828800"/>
            <a:ext cx="2798064" cy="4279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50" b="0">
                <a:solidFill>
                  <a:srgbClr val="172033"/>
                </a:solidFill>
                <a:latin typeface="Malgun Gothic"/>
              </a:rPr>
              <a:t>• 2024년 전체공장: 120,000 단위 생산, 5.2% 결함률, OEE 71%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50" b="0">
                <a:solidFill>
                  <a:srgbClr val="172033"/>
                </a:solidFill>
                <a:latin typeface="Malgun Gothic"/>
              </a:rPr>
              <a:t>• 2025년 전체공장: 128,000 단위 생산, 4.8% 결함률, OEE 74%</a:t>
            </a:r>
          </a:p>
        </p:txBody>
      </p:sp>
      <p:graphicFrame>
        <p:nvGraphicFramePr>
          <p:cNvPr id="11" name="BENCH_CHART"/>
          <p:cNvGraphicFramePr>
            <a:graphicFrameLocks noGrp="1"/>
          </p:cNvGraphicFramePr>
          <p:nvPr/>
        </p:nvGraphicFramePr>
        <p:xfrm>
          <a:off x="4069080" y="1700784"/>
          <a:ext cx="7452360" cy="453542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성과 분석: 2024-2025년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3</a:t>
            </a:r>
          </a:p>
        </p:txBody>
      </p:sp>
      <p:sp>
        <p:nvSpPr>
          <p:cNvPr id="7" name="BENCH_TAKEAWAY_BG"/>
          <p:cNvSpPr/>
          <p:nvPr/>
        </p:nvSpPr>
        <p:spPr>
          <a:xfrm>
            <a:off x="621792" y="1042415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AKEAWAY"/>
          <p:cNvSpPr txBox="1"/>
          <p:nvPr/>
        </p:nvSpPr>
        <p:spPr>
          <a:xfrm>
            <a:off x="841248" y="1124712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성과 변화를 시각화합니다.</a:t>
            </a:r>
          </a:p>
        </p:txBody>
      </p:sp>
      <p:graphicFrame>
        <p:nvGraphicFramePr>
          <p:cNvPr id="9" name="BENCH_CHART"/>
          <p:cNvGraphicFramePr>
            <a:graphicFrameLocks noGrp="1"/>
          </p:cNvGraphicFramePr>
          <p:nvPr/>
        </p:nvGraphicFramePr>
        <p:xfrm>
          <a:off x="713232" y="1700784"/>
          <a:ext cx="10771632" cy="453542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파일럿 라인 성과: 2026년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4</a:t>
            </a:r>
          </a:p>
        </p:txBody>
      </p:sp>
      <p:sp>
        <p:nvSpPr>
          <p:cNvPr id="7" name="BENCH_TAKEAWAY_BG"/>
          <p:cNvSpPr/>
          <p:nvPr/>
        </p:nvSpPr>
        <p:spPr>
          <a:xfrm>
            <a:off x="621792" y="1042415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AKEAWAY"/>
          <p:cNvSpPr txBox="1"/>
          <p:nvPr/>
        </p:nvSpPr>
        <p:spPr>
          <a:xfrm>
            <a:off x="841248" y="1124712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파일럿 라인의 성과를 강조하며 전체공장 실적이 아닌 점을 명시합니다.</a:t>
            </a:r>
          </a:p>
        </p:txBody>
      </p:sp>
      <p:sp>
        <p:nvSpPr>
          <p:cNvPr id="9" name="BENCH_CARD"/>
          <p:cNvSpPr/>
          <p:nvPr/>
        </p:nvSpPr>
        <p:spPr>
          <a:xfrm>
            <a:off x="658368" y="1700784"/>
            <a:ext cx="3200400" cy="4535424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ENCH_BODY"/>
          <p:cNvSpPr txBox="1"/>
          <p:nvPr/>
        </p:nvSpPr>
        <p:spPr>
          <a:xfrm>
            <a:off x="859536" y="1828800"/>
            <a:ext cx="2798064" cy="4279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50" b="0">
                <a:solidFill>
                  <a:srgbClr val="172033"/>
                </a:solidFill>
                <a:latin typeface="Malgun Gothic"/>
              </a:rPr>
              <a:t>• 파일럿 라인: 35,000 단위 생산, 3.1% 결함률, OEE 81%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50" b="0">
                <a:solidFill>
                  <a:srgbClr val="172033"/>
                </a:solidFill>
                <a:latin typeface="Malgun Gothic"/>
              </a:rPr>
              <a:t>• 2026 데이터는 파일럿 라인 기준</a:t>
            </a:r>
          </a:p>
        </p:txBody>
      </p:sp>
      <p:graphicFrame>
        <p:nvGraphicFramePr>
          <p:cNvPr id="11" name="BENCH_CHART"/>
          <p:cNvGraphicFramePr>
            <a:graphicFrameLocks noGrp="1"/>
          </p:cNvGraphicFramePr>
          <p:nvPr/>
        </p:nvGraphicFramePr>
        <p:xfrm>
          <a:off x="4069080" y="1700784"/>
          <a:ext cx="7452360" cy="453542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OEE 개선 분석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5</a:t>
            </a:r>
          </a:p>
        </p:txBody>
      </p:sp>
      <p:sp>
        <p:nvSpPr>
          <p:cNvPr id="7" name="BENCH_TAKEAWAY_BG"/>
          <p:cNvSpPr/>
          <p:nvPr/>
        </p:nvSpPr>
        <p:spPr>
          <a:xfrm>
            <a:off x="621792" y="1042415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AKEAWAY"/>
          <p:cNvSpPr txBox="1"/>
          <p:nvPr/>
        </p:nvSpPr>
        <p:spPr>
          <a:xfrm>
            <a:off x="841248" y="1124712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생산성 향상에 대한 차트를 제공합니다.</a:t>
            </a:r>
          </a:p>
        </p:txBody>
      </p:sp>
      <p:graphicFrame>
        <p:nvGraphicFramePr>
          <p:cNvPr id="9" name="BENCH_CHART"/>
          <p:cNvGraphicFramePr>
            <a:graphicFrameLocks noGrp="1"/>
          </p:cNvGraphicFramePr>
          <p:nvPr/>
        </p:nvGraphicFramePr>
        <p:xfrm>
          <a:off x="713232" y="1700784"/>
          <a:ext cx="10771632" cy="453542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결론 및 권고 사항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6</a:t>
            </a:r>
          </a:p>
        </p:txBody>
      </p:sp>
      <p:sp>
        <p:nvSpPr>
          <p:cNvPr id="7" name="BENCH_TAKEAWAY_BG"/>
          <p:cNvSpPr/>
          <p:nvPr/>
        </p:nvSpPr>
        <p:spPr>
          <a:xfrm>
            <a:off x="621792" y="1042415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AKEAWAY"/>
          <p:cNvSpPr txBox="1"/>
          <p:nvPr/>
        </p:nvSpPr>
        <p:spPr>
          <a:xfrm>
            <a:off x="841248" y="1124712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확대 도입을 권장합니다.</a:t>
            </a:r>
          </a:p>
        </p:txBody>
      </p:sp>
      <p:sp>
        <p:nvSpPr>
          <p:cNvPr id="9" name="BENCH_DECISION_CARD"/>
          <p:cNvSpPr/>
          <p:nvPr/>
        </p:nvSpPr>
        <p:spPr>
          <a:xfrm>
            <a:off x="7955279" y="1700784"/>
            <a:ext cx="3566160" cy="2084831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ENCH_DECISION_ACCENT"/>
          <p:cNvSpPr/>
          <p:nvPr/>
        </p:nvSpPr>
        <p:spPr>
          <a:xfrm>
            <a:off x="7955279" y="1700784"/>
            <a:ext cx="73152" cy="2084831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ENCH_DECISION_LABEL"/>
          <p:cNvSpPr txBox="1"/>
          <p:nvPr/>
        </p:nvSpPr>
        <p:spPr>
          <a:xfrm>
            <a:off x="8229600" y="1883664"/>
            <a:ext cx="2880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D97706"/>
                </a:solidFill>
                <a:latin typeface="Malgun Gothic"/>
              </a:rPr>
              <a:t>DECISION</a:t>
            </a:r>
          </a:p>
        </p:txBody>
      </p:sp>
      <p:sp>
        <p:nvSpPr>
          <p:cNvPr id="12" name="BENCH_DECISION"/>
          <p:cNvSpPr txBox="1"/>
          <p:nvPr/>
        </p:nvSpPr>
        <p:spPr>
          <a:xfrm>
            <a:off x="8229600" y="2221991"/>
            <a:ext cx="2880360" cy="12618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>
                <a:solidFill>
                  <a:srgbClr val="0B1F33"/>
                </a:solidFill>
                <a:latin typeface="Malgun Gothic"/>
              </a:rPr>
              <a:t>확대 도입은 추가적인 투자와 리스크 관리가 필요하며, 파일럿 라인의 성과를 기반으로 한 확실한 계획이 요구됩니다.</a:t>
            </a:r>
          </a:p>
        </p:txBody>
      </p:sp>
      <p:sp>
        <p:nvSpPr>
          <p:cNvPr id="13" name="BENCH_INSIGHT_CARD"/>
          <p:cNvSpPr/>
          <p:nvPr/>
        </p:nvSpPr>
        <p:spPr>
          <a:xfrm>
            <a:off x="658368" y="1786920"/>
            <a:ext cx="6967728" cy="1170432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ENCH_DECOR"/>
          <p:cNvSpPr/>
          <p:nvPr/>
        </p:nvSpPr>
        <p:spPr>
          <a:xfrm>
            <a:off x="658368" y="1786920"/>
            <a:ext cx="54864" cy="117043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ENCH_BODY"/>
          <p:cNvSpPr txBox="1"/>
          <p:nvPr/>
        </p:nvSpPr>
        <p:spPr>
          <a:xfrm>
            <a:off x="859536" y="1933224"/>
            <a:ext cx="6620256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Malgun Gothic"/>
              </a:rPr>
              <a:t>파일럿 라인 성과가 우수함</a:t>
            </a:r>
          </a:p>
        </p:txBody>
      </p:sp>
      <p:sp>
        <p:nvSpPr>
          <p:cNvPr id="16" name="BENCH_INSIGHT_CARD"/>
          <p:cNvSpPr/>
          <p:nvPr/>
        </p:nvSpPr>
        <p:spPr>
          <a:xfrm>
            <a:off x="658368" y="3103656"/>
            <a:ext cx="6967728" cy="1170432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ENCH_DECOR"/>
          <p:cNvSpPr/>
          <p:nvPr/>
        </p:nvSpPr>
        <p:spPr>
          <a:xfrm>
            <a:off x="658368" y="3103656"/>
            <a:ext cx="54864" cy="117043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ENCH_BODY"/>
          <p:cNvSpPr txBox="1"/>
          <p:nvPr/>
        </p:nvSpPr>
        <p:spPr>
          <a:xfrm>
            <a:off x="859536" y="3249960"/>
            <a:ext cx="6620256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Malgun Gothic"/>
              </a:rPr>
              <a:t>전체공장의 OEE 향상 가능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